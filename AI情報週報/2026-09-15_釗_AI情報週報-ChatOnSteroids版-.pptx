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e2309dcd14df4" /><Relationship Type="http://schemas.openxmlformats.org/package/2006/relationships/metadata/core-properties" Target="/docProps/core.xml" Id="Rf41bca0dd92b4be6" /><Relationship Type="http://schemas.openxmlformats.org/officeDocument/2006/relationships/extended-properties" Target="/docProps/app.xml" Id="R112f84d534734a0b" /><Relationship Type="http://schemas.openxmlformats.org/officeDocument/2006/relationships/custom-properties" Target="/docProps/custom.xml" Id="Rca9a57d9ecbd48e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a90d6ed34ce4d8e"/>
    <p:sldId id="257" r:id="Rd4dcf062f27f455b"/>
    <p:sldId id="258" r:id="R064c90a01c654e08"/>
    <p:sldId id="259" r:id="Rd748ee0db30b45c9"/>
    <p:sldId id="260" r:id="R5718d8f83e7e4b12"/>
    <p:sldId id="261" r:id="R24cd08f04ba04ee2"/>
    <p:sldId id="262" r:id="R8dcf9b9cd7ee40d2"/>
    <p:sldId id="263" r:id="R21bf2e42e0ee476b"/>
  </p:sldIdLst>
  <p:sldSz cx="121615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a90d6ed34ce4d8e" /><Relationship Type="http://schemas.openxmlformats.org/officeDocument/2006/relationships/slide" Target="/ppt/slides/slide2.xml" Id="Rd4dcf062f27f455b" /><Relationship Type="http://schemas.openxmlformats.org/officeDocument/2006/relationships/slide" Target="/ppt/slides/slide3.xml" Id="R064c90a01c654e08" /><Relationship Type="http://schemas.openxmlformats.org/officeDocument/2006/relationships/slide" Target="/ppt/slides/slide4.xml" Id="Rd748ee0db30b45c9" /><Relationship Type="http://schemas.openxmlformats.org/officeDocument/2006/relationships/slide" Target="/ppt/slides/slide5.xml" Id="R5718d8f83e7e4b12" /><Relationship Type="http://schemas.openxmlformats.org/officeDocument/2006/relationships/slide" Target="/ppt/slides/slide6.xml" Id="R24cd08f04ba04ee2" /><Relationship Type="http://schemas.openxmlformats.org/officeDocument/2006/relationships/slide" Target="/ppt/slides/slide7.xml" Id="R8dcf9b9cd7ee40d2" /><Relationship Type="http://schemas.openxmlformats.org/officeDocument/2006/relationships/slide" Target="/ppt/slides/slide8.xml" Id="R21bf2e42e0ee476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7d0df440f41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1a7354a9d4d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8c972942741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7b51ef5de46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fe73bd43c443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e53ba7a21b2445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edcb0f6a347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0a167a4ab48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adcc12abe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9fa12dffb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73beff19446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33eac1e0843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8b359372d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223cb2a9b41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0" y="6729984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77240" y="1965960"/>
            <a:ext cx="10607040" cy="1005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Microsoft JhengHei"/>
                <a:ea typeface="Microsoft JhengHei"/>
              </a:rPr>
              <a:t>AI 情報週報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822960" y="2880360"/>
            <a:ext cx="1060704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CADCFC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822960" y="3703320"/>
            <a:ext cx="106070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Microsoft JhengHei"/>
                <a:ea typeface="Microsoft JhengHei"/>
              </a:rPr>
              <a:t>同機信任模型　×　可選任意命令執行　×　與 Claude／Codex Desktop 比較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822960" y="4709160"/>
            <a:ext cx="29260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822960" y="4892040"/>
            <a:ext cx="508000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9FB0D0"/>
                </a:solidFill>
                <a:latin typeface="Microsoft JhengHei"/>
                <a:ea typeface="Microsoft JhengHei"/>
              </a:rPr>
              <a:t>整理：釗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9FB0D0"/>
                </a:solidFill>
                <a:latin typeface="Microsoft JhengHei"/>
                <a:ea typeface="Microsoft JhengHei"/>
              </a:rPr>
              <a:t>日期：2026-09-15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07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640080" y="201168"/>
            <a:ext cx="8890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開場｜本次篩選標準</a:t>
            </a:r>
          </a:p>
        </p:txBody>
      </p:sp>
      <p:sp>
        <p:nvSpPr>
          <p:cNvPr id="100009" name="TextBox 3"/>
          <p:cNvSpPr txBox="1"/>
          <p:nvPr/>
        </p:nvSpPr>
        <p:spPr>
          <a:xfrm xmlns:a="http://schemas.openxmlformats.org/drawingml/2006/main">
            <a:off x="640080" y="1234440"/>
            <a:ext cx="1088136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400">
                <a:solidFill>
                  <a:srgbClr val="27324A"/>
                </a:solidFill>
                <a:latin typeface="Microsoft JhengHei"/>
                <a:ea typeface="Microsoft JhengHei"/>
              </a:rPr>
              <a:t>對象：github.com/totec448-spec/chat-on-steroids（MIT License，v2.1.13）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400">
                <a:solidFill>
                  <a:srgbClr val="27324A"/>
                </a:solidFill>
                <a:latin typeface="Microsoft JhengHei"/>
                <a:ea typeface="Microsoft JhengHei"/>
              </a:rPr>
              <a:t>為什麼看這個案例：讓 ChatGPT 直接讀寫檔案／跑終端機／操作桌面的本機工具，需先搞懂信任邊界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400">
                <a:solidFill>
                  <a:srgbClr val="27324A"/>
                </a:solidFill>
                <a:latin typeface="Microsoft JhengHei"/>
                <a:ea typeface="Microsoft JhengHei"/>
              </a:rPr>
              <a:t>方法：shallow clone 實查原始碼，追蹤 IPC／本機 HTTP／命令執行／檔案沙箱資料流，非僅讀 README</a:t>
            </a:r>
          </a:p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2026-09-15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640080" y="201168"/>
            <a:ext cx="8890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案例｜問題說明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640080" y="1234440"/>
            <a:ext cx="1088136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50">
                <a:solidFill>
                  <a:srgbClr val="27324A"/>
                </a:solidFill>
                <a:latin typeface="Microsoft JhengHei"/>
                <a:ea typeface="Microsoft JhengHei"/>
              </a:rPr>
              <a:t>核心結論：安全工程做得比一般同類專案紮實（命令執行安全化、檔案沙箱、loopback 認證都有實作）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>
                <a:solidFill>
                  <a:srgbClr val="27324A"/>
                </a:solidFill>
                <a:latin typeface="Microsoft JhengHei"/>
                <a:ea typeface="Microsoft JhengHei"/>
              </a:rPr>
              <a:t>但同機信任模型是設計取捨而非漏洞：任何以使用者身份在本機執行的程式都能取得 pairing token</a:t>
            </a:r>
          </a:p>
        </p:txBody>
      </p:sp>
      <p:sp>
        <p:nvSpPr>
          <p:cNvPr id="100015" name="TextBox 4"/>
          <p:cNvSpPr/>
          <p:nvPr/>
        </p:nvSpPr>
        <p:spPr>
          <a:xfrm xmlns:a="http://schemas.openxmlformats.org/drawingml/2006/main">
            <a:off x="640080" y="2794000"/>
            <a:ext cx="508000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solidFill>
              <a:srgbClr val="F0CB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TextBox 5"/>
          <p:cNvSpPr txBox="1"/>
          <p:nvPr/>
        </p:nvSpPr>
        <p:spPr>
          <a:xfrm xmlns:a="http://schemas.openxmlformats.org/drawingml/2006/main">
            <a:off x="838200" y="2997200"/>
            <a:ext cx="4673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50" b="1">
                <a:solidFill>
                  <a:srgbClr val="27324A"/>
                </a:solidFill>
                <a:latin typeface="Microsoft JhengHei"/>
                <a:ea typeface="Microsoft JhengHei"/>
              </a:rPr>
              <a:t>高風險｜exec_command 一旦啟用</a:t>
            </a:r>
          </a:p>
        </p:txBody>
      </p:sp>
      <p:sp>
        <p:nvSpPr>
          <p:cNvPr id="100017" name="TextBox 6"/>
          <p:cNvSpPr txBox="1"/>
          <p:nvPr/>
        </p:nvSpPr>
        <p:spPr>
          <a:xfrm xmlns:a="http://schemas.openxmlformats.org/drawingml/2006/main">
            <a:off x="838200" y="3479800"/>
            <a:ext cx="4673600" cy="13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6B7A99"/>
                </a:solidFill>
                <a:latin typeface="Microsoft JhengHei"/>
                <a:ea typeface="Microsoft JhengHei"/>
              </a:rPr>
              <a:t>ChatGPT 對話內容（含間接輸入，如被讀取的檔案／網頁）成為觸發本機任意命令執行的入口——工具能防字串拼接注入，防不住模型被騙下真實但有害的指令。</a:t>
            </a:r>
          </a:p>
        </p:txBody>
      </p:sp>
      <p:sp>
        <p:nvSpPr>
          <p:cNvPr id="100018" name="TextBox 7"/>
          <p:cNvSpPr/>
          <p:nvPr/>
        </p:nvSpPr>
        <p:spPr>
          <a:xfrm xmlns:a="http://schemas.openxmlformats.org/drawingml/2006/main">
            <a:off x="6441440" y="2794000"/>
            <a:ext cx="508000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solidFill>
              <a:srgbClr val="EFC5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TextBox 8"/>
          <p:cNvSpPr txBox="1"/>
          <p:nvPr/>
        </p:nvSpPr>
        <p:spPr>
          <a:xfrm xmlns:a="http://schemas.openxmlformats.org/drawingml/2006/main">
            <a:off x="6639560" y="2997200"/>
            <a:ext cx="4673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50" b="1">
                <a:solidFill>
                  <a:srgbClr val="27324A"/>
                </a:solidFill>
                <a:latin typeface="Microsoft JhengHei"/>
                <a:ea typeface="Microsoft JhengHei"/>
              </a:rPr>
              <a:t>中風險｜安裝檔未簽章／未公證</a:t>
            </a:r>
          </a:p>
        </p:txBody>
      </p:sp>
      <p:sp>
        <p:nvSpPr>
          <p:cNvPr id="100020" name="TextBox 9"/>
          <p:cNvSpPr txBox="1"/>
          <p:nvPr/>
        </p:nvSpPr>
        <p:spPr>
          <a:xfrm xmlns:a="http://schemas.openxmlformats.org/drawingml/2006/main">
            <a:off x="6639560" y="3479800"/>
            <a:ext cx="4673600" cy="13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6B7A99"/>
                </a:solidFill>
                <a:latin typeface="Microsoft JhengHei"/>
                <a:ea typeface="Microsoft JhengHei"/>
              </a:rPr>
              <a:t>Windows 版未經 publisher 簽章、macOS 版未 notarize（beta 階段），需自行核對官方 release checksum，避免誤裝偽造安裝檔。</a:t>
            </a:r>
          </a:p>
        </p:txBody>
      </p:sp>
      <p:sp>
        <p:nvSpPr>
          <p:cNvPr id="100021" name="TextBox 10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22" name="TextBox 11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2026-09-15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640080" y="201168"/>
            <a:ext cx="8890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案例｜我們該怎麼做</a:t>
            </a:r>
          </a:p>
        </p:txBody>
      </p:sp>
      <p:sp>
        <p:nvSpPr>
          <p:cNvPr id="100025" name="TextBox 3"/>
          <p:cNvSpPr txBox="1"/>
          <p:nvPr/>
        </p:nvSpPr>
        <p:spPr>
          <a:xfrm xmlns:a="http://schemas.openxmlformats.org/drawingml/2006/main">
            <a:off x="640080" y="1270000"/>
            <a:ext cx="10881360" cy="431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AutoNum type="arabicPeriod"/>
            </a:pPr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只在個人專用、無其他不受信任軟體的裝置上安裝</a:t>
            </a:r>
          </a:p>
          <a:p xmlns:a="http://schemas.openxmlformats.org/drawingml/2006/main">
            <a:pPr marL="457200" indent="-457200" algn="l">
              <a:buAutoNum type="arabicPeriod"/>
            </a:pPr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安裝前核對官方 release checksum，尤其未簽章版本</a:t>
            </a:r>
          </a:p>
          <a:p xmlns:a="http://schemas.openxmlformats.org/drawingml/2006/main">
            <a:pPr marL="457200" indent="-457200" algn="l">
              <a:buAutoNum type="arabicPeriod"/>
            </a:pPr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approved folders 只核准真正需要的資料夾，不核准整個磁碟／使用者主目錄</a:t>
            </a:r>
          </a:p>
          <a:p xmlns:a="http://schemas.openxmlformats.org/drawingml/2006/main">
            <a:pPr marL="457200" indent="-457200" algn="l">
              <a:buAutoNum type="arabicPeriod"/>
            </a:pPr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預設不啟用 exec_command／桌面操作能力，需要時需向使用者說明 prompt injection 風險</a:t>
            </a:r>
          </a:p>
          <a:p xmlns:a="http://schemas.openxmlformats.org/drawingml/2006/main">
            <a:pPr marL="457200" indent="-457200" algn="l">
              <a:buAutoNum type="arabicPeriod"/>
            </a:pPr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Linux 優先用 DEB 套件，避免 AppImage 在受限環境 fallback 到 --no-sandbox</a:t>
            </a:r>
          </a:p>
        </p:txBody>
      </p:sp>
      <p:sp>
        <p:nvSpPr>
          <p:cNvPr id="100026" name="TextBox 4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27" name="TextBox 5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2026-09-15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28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9" name="TextBox 2"/>
          <p:cNvSpPr txBox="1"/>
          <p:nvPr/>
        </p:nvSpPr>
        <p:spPr>
          <a:xfrm xmlns:a="http://schemas.openxmlformats.org/drawingml/2006/main">
            <a:off x="640080" y="201168"/>
            <a:ext cx="8890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使用情境｜適合與不適合</a:t>
            </a:r>
          </a:p>
        </p:txBody>
      </p:sp>
      <p:sp>
        <p:nvSpPr>
          <p:cNvPr id="100030" name="TextBox 3"/>
          <p:cNvSpPr/>
          <p:nvPr/>
        </p:nvSpPr>
        <p:spPr>
          <a:xfrm xmlns:a="http://schemas.openxmlformats.org/drawingml/2006/main">
            <a:off x="640080" y="1234440"/>
            <a:ext cx="5080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DE"/>
          </a:solidFill>
          <a:ln xmlns:a="http://schemas.openxmlformats.org/drawingml/2006/main">
            <a:solidFill>
              <a:srgbClr val="C9E4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4"/>
          <p:cNvSpPr txBox="1"/>
          <p:nvPr/>
        </p:nvSpPr>
        <p:spPr>
          <a:xfrm xmlns:a="http://schemas.openxmlformats.org/drawingml/2006/main">
            <a:off x="838200" y="1422400"/>
            <a:ext cx="467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4C7A34"/>
                </a:solidFill>
                <a:latin typeface="Microsoft JhengHei"/>
                <a:ea typeface="Microsoft JhengHei"/>
              </a:rPr>
              <a:t>✓ 適合的情境</a:t>
            </a:r>
          </a:p>
        </p:txBody>
      </p:sp>
      <p:sp>
        <p:nvSpPr>
          <p:cNvPr id="100032" name="TextBox 5"/>
          <p:cNvSpPr txBox="1"/>
          <p:nvPr/>
        </p:nvSpPr>
        <p:spPr>
          <a:xfrm xmlns:a="http://schemas.openxmlformats.org/drawingml/2006/main">
            <a:off x="838200" y="1905000"/>
            <a:ext cx="4673600" cy="292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想在 ChatGPT 網頁對話直接操作本機專案，不想切換工具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已有 ChatGPT Developer Mode／自訂 MCP apps 權限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個人裝置做輕量雜務，且保持自動執行指令關閉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本來就有 ChatGPT 額度，想物盡其用</a:t>
            </a:r>
          </a:p>
        </p:txBody>
      </p:sp>
      <p:sp>
        <p:nvSpPr>
          <p:cNvPr id="100033" name="TextBox 6"/>
          <p:cNvSpPr/>
          <p:nvPr/>
        </p:nvSpPr>
        <p:spPr>
          <a:xfrm xmlns:a="http://schemas.openxmlformats.org/drawingml/2006/main">
            <a:off x="6441440" y="1234440"/>
            <a:ext cx="5080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solidFill>
              <a:srgbClr val="EFC5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TextBox 7"/>
          <p:cNvSpPr txBox="1"/>
          <p:nvPr/>
        </p:nvSpPr>
        <p:spPr>
          <a:xfrm xmlns:a="http://schemas.openxmlformats.org/drawingml/2006/main">
            <a:off x="6639560" y="1422400"/>
            <a:ext cx="467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C0392B"/>
                </a:solidFill>
                <a:latin typeface="Microsoft JhengHei"/>
                <a:ea typeface="Microsoft JhengHei"/>
              </a:rPr>
              <a:t>✕ 不適合的情境</a:t>
            </a:r>
          </a:p>
        </p:txBody>
      </p:sp>
      <p:sp>
        <p:nvSpPr>
          <p:cNvPr id="100035" name="TextBox 8"/>
          <p:cNvSpPr txBox="1"/>
          <p:nvPr/>
        </p:nvSpPr>
        <p:spPr>
          <a:xfrm xmlns:a="http://schemas.openxmlformats.org/drawingml/2006/main">
            <a:off x="6639560" y="1905000"/>
            <a:ext cx="4673600" cy="292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公司電腦、共用電腦、或已有不明軟體的裝置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處理機敏原始碼或客戶資料的專案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已用 Claude Code／Codex CLI 開發，功能重疊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50">
                <a:solidFill>
                  <a:srgbClr val="27324A"/>
                </a:solidFill>
                <a:latin typeface="Microsoft JhengHei"/>
                <a:ea typeface="Microsoft JhengHei"/>
              </a:rPr>
              <a:t>需要長時間高頻率自動化任務，會快速耗盡額度</a:t>
            </a:r>
          </a:p>
        </p:txBody>
      </p:sp>
      <p:sp>
        <p:nvSpPr>
          <p:cNvPr id="100036" name="TextBox 9"/>
          <p:cNvSpPr/>
          <p:nvPr/>
        </p:nvSpPr>
        <p:spPr>
          <a:xfrm xmlns:a="http://schemas.openxmlformats.org/drawingml/2006/main">
            <a:off x="640080" y="5232400"/>
            <a:ext cx="1088136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E"/>
          </a:solidFill>
          <a:ln xmlns:a="http://schemas.openxmlformats.org/drawingml/2006/main">
            <a:solidFill>
              <a:srgbClr val="F0CB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TextBox 10"/>
          <p:cNvSpPr txBox="1"/>
          <p:nvPr/>
        </p:nvSpPr>
        <p:spPr>
          <a:xfrm xmlns:a="http://schemas.openxmlformats.org/drawingml/2006/main">
            <a:off x="838200" y="5384800"/>
            <a:ext cx="105003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27324A"/>
                </a:solidFill>
                <a:latin typeface="Microsoft JhengHei"/>
                <a:ea typeface="Microsoft JhengHei"/>
              </a:rPr>
              <a:t>額度／用量考量：此工具直接吃你 ChatGPT 帳號本身的對話額度，與 Codex 共用同一用量上限，不是另計費的獨立服務。</a:t>
            </a:r>
          </a:p>
        </p:txBody>
      </p:sp>
      <p:sp>
        <p:nvSpPr>
          <p:cNvPr id="100038" name="TextBox 11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39" name="TextBox 12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2026-09-15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40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TextBox 2"/>
          <p:cNvSpPr txBox="1"/>
          <p:nvPr/>
        </p:nvSpPr>
        <p:spPr>
          <a:xfrm xmlns:a="http://schemas.openxmlformats.org/drawingml/2006/main">
            <a:off x="640080" y="201168"/>
            <a:ext cx="8890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Microsoft JhengHei"/>
                <a:ea typeface="Microsoft JhengHei"/>
              </a:rPr>
              <a:t>與 Claude Desktop、Codex Desktop 比較</a:t>
            </a:r>
          </a:p>
        </p:txBody>
      </p:sp>
      <p:sp>
        <p:nvSpPr>
          <p:cNvPr id="100042" name="TextBox 3"/>
          <p:cNvSpPr/>
          <p:nvPr/>
        </p:nvSpPr>
        <p:spPr>
          <a:xfrm xmlns:a="http://schemas.openxmlformats.org/drawingml/2006/main">
            <a:off x="640080" y="1270000"/>
            <a:ext cx="3291840" cy="44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TextBox 4"/>
          <p:cNvSpPr txBox="1"/>
          <p:nvPr/>
        </p:nvSpPr>
        <p:spPr>
          <a:xfrm xmlns:a="http://schemas.openxmlformats.org/drawingml/2006/main">
            <a:off x="812800" y="1473200"/>
            <a:ext cx="29464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E8720C"/>
                </a:solidFill>
                <a:latin typeface="Microsoft JhengHei"/>
                <a:ea typeface="Microsoft JhengHei"/>
              </a:rPr>
              <a:t>Chat On Steroids</a:t>
            </a:r>
          </a:p>
        </p:txBody>
      </p:sp>
      <p:sp>
        <p:nvSpPr>
          <p:cNvPr id="100044" name="TextBox 5"/>
          <p:cNvSpPr txBox="1"/>
          <p:nvPr/>
        </p:nvSpPr>
        <p:spPr>
          <a:xfrm xmlns:a="http://schemas.openxmlformats.org/drawingml/2006/main">
            <a:off x="812800" y="1930400"/>
            <a:ext cx="2946400" cy="35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第三方，靠瀏覽器擴充套件掛在 ChatGPT 上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自建 Electron app 橋接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同機信任，任何本機程式可冒充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有可選的任意指令執行</a:t>
            </a:r>
          </a:p>
        </p:txBody>
      </p:sp>
      <p:sp>
        <p:nvSpPr>
          <p:cNvPr id="100045" name="TextBox 6"/>
          <p:cNvSpPr/>
          <p:nvPr/>
        </p:nvSpPr>
        <p:spPr>
          <a:xfrm xmlns:a="http://schemas.openxmlformats.org/drawingml/2006/main">
            <a:off x="4434840" y="1270000"/>
            <a:ext cx="3291840" cy="44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TextBox 7"/>
          <p:cNvSpPr txBox="1"/>
          <p:nvPr/>
        </p:nvSpPr>
        <p:spPr>
          <a:xfrm xmlns:a="http://schemas.openxmlformats.org/drawingml/2006/main">
            <a:off x="4612640" y="1473200"/>
            <a:ext cx="29464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5B9BD5"/>
                </a:solidFill>
                <a:latin typeface="Microsoft JhengHei"/>
                <a:ea typeface="Microsoft JhengHei"/>
              </a:rPr>
              <a:t>Claude Desktop</a:t>
            </a:r>
          </a:p>
        </p:txBody>
      </p:sp>
      <p:sp>
        <p:nvSpPr>
          <p:cNvPr id="100047" name="TextBox 8"/>
          <p:cNvSpPr txBox="1"/>
          <p:nvPr/>
        </p:nvSpPr>
        <p:spPr>
          <a:xfrm xmlns:a="http://schemas.openxmlformats.org/drawingml/2006/main">
            <a:off x="4612640" y="1930400"/>
            <a:ext cx="2946400" cy="35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Anthropic 官方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官方 MCP 協定，自行安裝設定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每個 MCP server 有清楚授權設定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終端機控制需另裝第三方 server</a:t>
            </a:r>
          </a:p>
        </p:txBody>
      </p:sp>
      <p:sp>
        <p:nvSpPr>
          <p:cNvPr id="100048" name="TextBox 9"/>
          <p:cNvSpPr/>
          <p:nvPr/>
        </p:nvSpPr>
        <p:spPr>
          <a:xfrm xmlns:a="http://schemas.openxmlformats.org/drawingml/2006/main">
            <a:off x="8229600" y="1270000"/>
            <a:ext cx="3291840" cy="44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9" name="TextBox 10"/>
          <p:cNvSpPr txBox="1"/>
          <p:nvPr/>
        </p:nvSpPr>
        <p:spPr>
          <a:xfrm xmlns:a="http://schemas.openxmlformats.org/drawingml/2006/main">
            <a:off x="8407400" y="1473200"/>
            <a:ext cx="29464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70AD47"/>
                </a:solidFill>
                <a:latin typeface="Microsoft JhengHei"/>
                <a:ea typeface="Microsoft JhengHei"/>
              </a:rPr>
              <a:t>Codex Desktop</a:t>
            </a:r>
          </a:p>
        </p:txBody>
      </p:sp>
      <p:sp>
        <p:nvSpPr>
          <p:cNvPr id="100050" name="TextBox 11"/>
          <p:cNvSpPr txBox="1"/>
          <p:nvPr/>
        </p:nvSpPr>
        <p:spPr>
          <a:xfrm xmlns:a="http://schemas.openxmlformats.org/drawingml/2006/main">
            <a:off x="8407400" y="1930400"/>
            <a:ext cx="2946400" cy="35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OpenAI 官方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原生內建，不需額外擴充套件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持續加深多檔案／多終端機管理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100">
                <a:solidFill>
                  <a:srgbClr val="27324A"/>
                </a:solidFill>
                <a:latin typeface="Microsoft JhengHei"/>
                <a:ea typeface="Microsoft JhengHei"/>
              </a:rPr>
              <a:t>安全更新走官方管道</a:t>
            </a:r>
          </a:p>
        </p:txBody>
      </p:sp>
      <p:sp>
        <p:nvSpPr>
          <p:cNvPr id="100051" name="TextBox 12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52" name="TextBox 13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2026-09-15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53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TextBox 2"/>
          <p:cNvSpPr txBox="1"/>
          <p:nvPr/>
        </p:nvSpPr>
        <p:spPr>
          <a:xfrm xmlns:a="http://schemas.openxmlformats.org/drawingml/2006/main">
            <a:off x="640080" y="201168"/>
            <a:ext cx="8890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Microsoft JhengHei"/>
                <a:ea typeface="Microsoft JhengHei"/>
              </a:rPr>
              <a:t>檢查清單｜查證通過的防護機制</a:t>
            </a:r>
          </a:p>
        </p:txBody>
      </p:sp>
      <p:sp>
        <p:nvSpPr>
          <p:cNvPr id="100055" name="TextBox 3"/>
          <p:cNvSpPr txBox="1"/>
          <p:nvPr/>
        </p:nvSpPr>
        <p:spPr>
          <a:xfrm xmlns:a="http://schemas.openxmlformats.org/drawingml/2006/main">
            <a:off x="640080" y="1270000"/>
            <a:ext cx="10881360" cy="431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✓ spawn() 一律 shell:false，PowerShell 走 -EncodedCommand，避開字串拼接注入</a:t>
            </a:r>
          </a:p>
          <a:p xmlns:a="http://schemas.openxmlformats.org/drawingml/2006/main">
            <a:pPr algn="l"/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✓ exec_command 預設關閉，需使用者顯式啟用</a:t>
            </a:r>
          </a:p>
          <a:p xmlns:a="http://schemas.openxmlformats.org/drawingml/2006/main">
            <a:pPr algn="l"/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✓ 檔案沙箱逐段驗證，含 symlink／junction 逃逸防護</a:t>
            </a:r>
          </a:p>
          <a:p xmlns:a="http://schemas.openxmlformats.org/drawingml/2006/main">
            <a:pPr algn="l"/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✓ preload 用 contextBridge 封裝，IPC channel 皆有 zod schema 驗證</a:t>
            </a:r>
          </a:p>
          <a:p xmlns:a="http://schemas.openxmlformats.org/drawingml/2006/main">
            <a:pPr algn="l"/>
            <a:r>
              <a:rPr lang="en-US" sz="1500">
                <a:solidFill>
                  <a:srgbClr val="27324A"/>
                </a:solidFill>
                <a:latin typeface="Microsoft JhengHei"/>
                <a:ea typeface="Microsoft JhengHei"/>
              </a:rPr>
              <a:t>✓ 本機 HTTP server 綁定 127.0.0.1、Origin／Host 驗證、token 常數時間比對</a:t>
            </a:r>
          </a:p>
        </p:txBody>
      </p:sp>
      <p:sp>
        <p:nvSpPr>
          <p:cNvPr id="100056" name="TextBox 4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Chat On Steroids 資安評估</a:t>
            </a:r>
          </a:p>
        </p:txBody>
      </p:sp>
      <p:sp>
        <p:nvSpPr>
          <p:cNvPr id="100057" name="TextBox 5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B7A99"/>
                </a:solidFill>
                <a:latin typeface="Microsoft JhengHei"/>
                <a:ea typeface="Microsoft JhengHei"/>
              </a:rPr>
              <a:t>2026-09-15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0" y="0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9" name="TextBox 2"/>
          <p:cNvSpPr txBox="1"/>
          <p:nvPr/>
        </p:nvSpPr>
        <p:spPr>
          <a:xfrm xmlns:a="http://schemas.openxmlformats.org/drawingml/2006/main">
            <a:off x="822960" y="1143000"/>
            <a:ext cx="1054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E8720C"/>
                </a:solidFill>
                <a:latin typeface="Microsoft JhengHei"/>
                <a:ea typeface="Microsoft JhengHei"/>
              </a:rPr>
              <a:t>結尾｜一句話總結</a:t>
            </a:r>
          </a:p>
        </p:txBody>
      </p:sp>
      <p:sp>
        <p:nvSpPr>
          <p:cNvPr id="100060" name="TextBox 3"/>
          <p:cNvSpPr txBox="1"/>
          <p:nvPr/>
        </p:nvSpPr>
        <p:spPr>
          <a:xfrm xmlns:a="http://schemas.openxmlformats.org/drawingml/2006/main">
            <a:off x="822960" y="1778000"/>
            <a:ext cx="10541000" cy="17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600" b="1">
                <a:solidFill>
                  <a:srgbClr val="FFFFFF"/>
                </a:solidFill>
                <a:latin typeface="Microsoft JhengHei"/>
                <a:ea typeface="Microsoft JhengHei"/>
              </a:rPr>
              <a:t>工程上把本機信任範圍設計得相對嚴謹，但本質仍是「同機信任模型＋可選任意命令執行」。</a:t>
            </a:r>
          </a:p>
        </p:txBody>
      </p:sp>
      <p:sp>
        <p:nvSpPr>
          <p:cNvPr id="100061" name="TextBox 4"/>
          <p:cNvSpPr txBox="1"/>
          <p:nvPr/>
        </p:nvSpPr>
        <p:spPr>
          <a:xfrm xmlns:a="http://schemas.openxmlformats.org/drawingml/2006/main">
            <a:off x="822960" y="3810000"/>
            <a:ext cx="10541000" cy="1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9FB0D0"/>
                </a:solidFill>
                <a:latin typeface="Microsoft JhengHei"/>
                <a:ea typeface="Microsoft JhengHei"/>
              </a:rPr>
              <a:t>啟用高風險能力前，先確認裝置乾淨、approved folders 範圍夠小；也留意其用量與 Codex 共用同一 ChatGPT 額度。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9FB0D0"/>
                </a:solidFill>
                <a:latin typeface="Microsoft JhengHei"/>
                <a:ea typeface="Microsoft JhengHei"/>
              </a:rPr>
              <a:t>完整資料：AI情報週報/chat-on-steroids-資安評估-2026-09-15.md、chat-on-steroids-白話說明.md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822960" y="5715000"/>
            <a:ext cx="29260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TextBox 6"/>
          <p:cNvSpPr txBox="1"/>
          <p:nvPr/>
        </p:nvSpPr>
        <p:spPr>
          <a:xfrm xmlns:a="http://schemas.openxmlformats.org/drawingml/2006/main">
            <a:off x="822960" y="5842000"/>
            <a:ext cx="508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9FB0D0"/>
                </a:solidFill>
                <a:latin typeface="Microsoft JhengHei"/>
                <a:ea typeface="Microsoft JhengHei"/>
              </a:rPr>
              <a:t>整理：釗　日期：2026-09-15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0" y="6729984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2026-09-15T06:22:48.0000000Z</dcterms:created>
  <lastModifiedBy>OfficeCLI</lastModifiedBy>
  <dcterms:modified xsi:type="dcterms:W3CDTF">2026-09-15T06:22:50.0011770Z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2026-09-15T06:22:54Z</vt:lpwstr>
  </op:property>
</op:Properties>
</file>