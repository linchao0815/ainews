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ac72601b12459b" /><Relationship Type="http://schemas.openxmlformats.org/package/2006/relationships/metadata/core-properties" Target="/docProps/core.xml" Id="Rb737324fb85f4371" /><Relationship Type="http://schemas.openxmlformats.org/officeDocument/2006/relationships/extended-properties" Target="/docProps/app.xml" Id="Rbaafd9a13d504c3d" /><Relationship Type="http://schemas.openxmlformats.org/officeDocument/2006/relationships/custom-properties" Target="/docProps/custom.xml" Id="R176e09010708485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801db359c8a4438"/>
    <p:sldId id="257" r:id="R374c00f5e3b646e6"/>
    <p:sldId id="258" r:id="Rbeeedfff4c0d402d"/>
    <p:sldId id="259" r:id="Rfbae130ccfb54124"/>
    <p:sldId id="260" r:id="R720e3cf2c64b40b6"/>
    <p:sldId id="261" r:id="R034c7f6269ca4472"/>
    <p:sldId id="262" r:id="Rb2b0edba19e84ef6"/>
    <p:sldId id="263" r:id="R7e3cf801b0714765"/>
    <p:sldId id="264" r:id="Re9c1d4528793414a"/>
    <p:sldId id="265" r:id="R99f5ca6e1df141d0"/>
    <p:sldId id="266" r:id="Rde309849c17e45a5"/>
    <p:sldId id="267" r:id="R0f1bedccfc9240fc"/>
    <p:sldId id="268" r:id="R9f0d2f6bbf7b46fc"/>
    <p:sldId id="269" r:id="R066e9ccba3804698"/>
    <p:sldId id="270" r:id="Rc8f06005e8c443ac"/>
    <p:sldId id="271" r:id="Ra6482c77e7fb44d3"/>
    <p:sldId id="272" r:id="Rbe20ee4d3d1a4f41"/>
    <p:sldId id="273" r:id="R67ef81f647ea4ef0"/>
    <p:sldId id="274" r:id="R0a65b62b57e64184"/>
    <p:sldId id="275" r:id="R6d87bed33daa4b44"/>
    <p:sldId id="276" r:id="Rc992ebacf90145ce"/>
  </p:sldIdLst>
  <p:sldSz cx="121615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801db359c8a4438" /><Relationship Type="http://schemas.openxmlformats.org/officeDocument/2006/relationships/slide" Target="/ppt/slides/slide2.xml" Id="R374c00f5e3b646e6" /><Relationship Type="http://schemas.openxmlformats.org/officeDocument/2006/relationships/slide" Target="/ppt/slides/slide3.xml" Id="Rbeeedfff4c0d402d" /><Relationship Type="http://schemas.openxmlformats.org/officeDocument/2006/relationships/slide" Target="/ppt/slides/slide4.xml" Id="Rfbae130ccfb54124" /><Relationship Type="http://schemas.openxmlformats.org/officeDocument/2006/relationships/slide" Target="/ppt/slides/slide5.xml" Id="R720e3cf2c64b40b6" /><Relationship Type="http://schemas.openxmlformats.org/officeDocument/2006/relationships/slide" Target="/ppt/slides/slide6.xml" Id="R034c7f6269ca4472" /><Relationship Type="http://schemas.openxmlformats.org/officeDocument/2006/relationships/slide" Target="/ppt/slides/slide7.xml" Id="Rb2b0edba19e84ef6" /><Relationship Type="http://schemas.openxmlformats.org/officeDocument/2006/relationships/slide" Target="/ppt/slides/slide8.xml" Id="R7e3cf801b0714765" /><Relationship Type="http://schemas.openxmlformats.org/officeDocument/2006/relationships/slide" Target="/ppt/slides/slide9.xml" Id="Re9c1d4528793414a" /><Relationship Type="http://schemas.openxmlformats.org/officeDocument/2006/relationships/slide" Target="/ppt/slides/slide10.xml" Id="R99f5ca6e1df141d0" /><Relationship Type="http://schemas.openxmlformats.org/officeDocument/2006/relationships/slide" Target="/ppt/slides/slide11.xml" Id="Rde309849c17e45a5" /><Relationship Type="http://schemas.openxmlformats.org/officeDocument/2006/relationships/slide" Target="/ppt/slides/slide12.xml" Id="R0f1bedccfc9240fc" /><Relationship Type="http://schemas.openxmlformats.org/officeDocument/2006/relationships/slide" Target="/ppt/slides/slide13.xml" Id="R9f0d2f6bbf7b46fc" /><Relationship Type="http://schemas.openxmlformats.org/officeDocument/2006/relationships/slide" Target="/ppt/slides/slide14.xml" Id="R066e9ccba3804698" /><Relationship Type="http://schemas.openxmlformats.org/officeDocument/2006/relationships/slide" Target="/ppt/slides/slide15.xml" Id="Rc8f06005e8c443ac" /><Relationship Type="http://schemas.openxmlformats.org/officeDocument/2006/relationships/slide" Target="/ppt/slides/slide16.xml" Id="Ra6482c77e7fb44d3" /><Relationship Type="http://schemas.openxmlformats.org/officeDocument/2006/relationships/slide" Target="/ppt/slides/slide17.xml" Id="Rbe20ee4d3d1a4f41" /><Relationship Type="http://schemas.openxmlformats.org/officeDocument/2006/relationships/slide" Target="/ppt/slides/slide18.xml" Id="R67ef81f647ea4ef0" /><Relationship Type="http://schemas.openxmlformats.org/officeDocument/2006/relationships/slide" Target="/ppt/slides/slide19.xml" Id="R0a65b62b57e64184" /><Relationship Type="http://schemas.openxmlformats.org/officeDocument/2006/relationships/slide" Target="/ppt/slides/slide20.xml" Id="R6d87bed33daa4b44" /><Relationship Type="http://schemas.openxmlformats.org/officeDocument/2006/relationships/slide" Target="/ppt/slides/slide21.xml" Id="Rc992ebacf90145c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233a63cdf48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63ad4314748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9a470d50044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d0f898ef541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41e89233a4be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3b86d37f3c1486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340c494294d4d" /><Relationship Type="http://schemas.openxmlformats.org/officeDocument/2006/relationships/image" Target="/ppt/media/image.png" Id="Raec80eacacde4d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7cf8cde1741a8" /><Relationship Type="http://schemas.openxmlformats.org/officeDocument/2006/relationships/image" Target="/ppt/media/image2.png" Id="R6367f2c2a3f545a2" /><Relationship Type="http://schemas.openxmlformats.org/officeDocument/2006/relationships/image" Target="/ppt/media/image3.png" Id="Rbd856ef4fde0428f" /><Relationship Type="http://schemas.openxmlformats.org/officeDocument/2006/relationships/image" Target="/ppt/media/image4.png" Id="Rf47986a3b3eb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fc4fcca2e47f8" /><Relationship Type="http://schemas.openxmlformats.org/officeDocument/2006/relationships/image" Target="/ppt/media/image5.png" Id="R13c36ce352ec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dc451e6f3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36f73d888422a" /><Relationship Type="http://schemas.openxmlformats.org/officeDocument/2006/relationships/image" Target="/ppt/media/image6.png" Id="R7933b81c5cbd4e05" /><Relationship Type="http://schemas.openxmlformats.org/officeDocument/2006/relationships/image" Target="/ppt/media/image7.png" Id="R9aa28d98aa5e4b79" /><Relationship Type="http://schemas.openxmlformats.org/officeDocument/2006/relationships/image" Target="/ppt/media/image8.png" Id="Rac3c26e49b2745bf" /><Relationship Type="http://schemas.openxmlformats.org/officeDocument/2006/relationships/image" Target="/ppt/media/image9.png" Id="R782db9dc5b4a49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4df76880a4447" /><Relationship Type="http://schemas.openxmlformats.org/officeDocument/2006/relationships/image" Target="/ppt/media/image10.png" Id="R94246123b96e495c" /><Relationship Type="http://schemas.openxmlformats.org/officeDocument/2006/relationships/image" Target="/ppt/media/image11.png" Id="Rf0a10c9af57a41e2" /><Relationship Type="http://schemas.openxmlformats.org/officeDocument/2006/relationships/image" Target="/ppt/media/image12.png" Id="R0b75574483314414" /><Relationship Type="http://schemas.openxmlformats.org/officeDocument/2006/relationships/image" Target="/ppt/media/image13.png" Id="Ra99207828398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972290fd4222" /><Relationship Type="http://schemas.openxmlformats.org/officeDocument/2006/relationships/image" Target="/ppt/media/image14.png" Id="R654602294dfb46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005c4f111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e80c238ec4a70" /><Relationship Type="http://schemas.openxmlformats.org/officeDocument/2006/relationships/image" Target="/ppt/media/image15.png" Id="Rdd7f5e9a0b634342" /><Relationship Type="http://schemas.openxmlformats.org/officeDocument/2006/relationships/image" Target="/ppt/media/image16.png" Id="R57bcd98ece684b96" /><Relationship Type="http://schemas.openxmlformats.org/officeDocument/2006/relationships/image" Target="/ppt/media/image17.png" Id="R0fdf919bde36433a" /><Relationship Type="http://schemas.openxmlformats.org/officeDocument/2006/relationships/image" Target="/ppt/media/image18.png" Id="R217791273c6e47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cf77b305b4fca" /><Relationship Type="http://schemas.openxmlformats.org/officeDocument/2006/relationships/image" Target="/ppt/media/image19.png" Id="Rcbb8d128feb249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c13c5d0a14c58" /><Relationship Type="http://schemas.openxmlformats.org/officeDocument/2006/relationships/image" Target="/ppt/media/image20.png" Id="R0104c27126384f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d61b634c41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28314314e4120" /><Relationship Type="http://schemas.openxmlformats.org/officeDocument/2006/relationships/image" Target="/ppt/media/image21.png" Id="R5a632307cf41496e" /><Relationship Type="http://schemas.openxmlformats.org/officeDocument/2006/relationships/image" Target="/ppt/media/image22.png" Id="Rda5e319d7d9f46c3" /><Relationship Type="http://schemas.openxmlformats.org/officeDocument/2006/relationships/image" Target="/ppt/media/image23.png" Id="R82c5f1a46cc64dbe" /><Relationship Type="http://schemas.openxmlformats.org/officeDocument/2006/relationships/image" Target="/ppt/media/image24.png" Id="R749317caa12548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2a3cfaea4c28" /><Relationship Type="http://schemas.openxmlformats.org/officeDocument/2006/relationships/image" Target="/ppt/media/image25.png" Id="R575bdb419b7648ed" /><Relationship Type="http://schemas.openxmlformats.org/officeDocument/2006/relationships/image" Target="/ppt/media/image26.png" Id="R2f5b782102974149" /><Relationship Type="http://schemas.openxmlformats.org/officeDocument/2006/relationships/image" Target="/ppt/media/image27.png" Id="Recc8bb4d7f554f76" /><Relationship Type="http://schemas.openxmlformats.org/officeDocument/2006/relationships/image" Target="/ppt/media/image28.png" Id="R2d18a1a168e949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5341dac83455c" /><Relationship Type="http://schemas.openxmlformats.org/officeDocument/2006/relationships/image" Target="/ppt/media/image29.png" Id="R8c5d58b2947946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2e527a4de4e67" /><Relationship Type="http://schemas.openxmlformats.org/officeDocument/2006/relationships/image" Target="/ppt/media/image30.png" Id="R2723d21900d849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eea5e33654f4e" /><Relationship Type="http://schemas.openxmlformats.org/officeDocument/2006/relationships/image" Target="/ppt/media/image31.png" Id="Rc7689ad5c7ff4c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750089ad64566" /><Relationship Type="http://schemas.openxmlformats.org/officeDocument/2006/relationships/image" Target="/ppt/media/image32.png" Id="R2517fea0aecb404d" /><Relationship Type="http://schemas.openxmlformats.org/officeDocument/2006/relationships/image" Target="/ppt/media/image33.png" Id="Ra8b9357c442b4e45" /><Relationship Type="http://schemas.openxmlformats.org/officeDocument/2006/relationships/image" Target="/ppt/media/image34.png" Id="R34d1b4354d304e7e" /><Relationship Type="http://schemas.openxmlformats.org/officeDocument/2006/relationships/image" Target="/ppt/media/image35.png" Id="R3535d98d84184b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ba80590da46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f03c247244b70" /><Relationship Type="http://schemas.openxmlformats.org/officeDocument/2006/relationships/image" Target="/ppt/media/image36.png" Id="R60f2791890f2454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532591ba2406f" /><Relationship Type="http://schemas.openxmlformats.org/officeDocument/2006/relationships/image" Target="/ppt/media/image37.png" Id="R204995cd29c4438d" /><Relationship Type="http://schemas.openxmlformats.org/officeDocument/2006/relationships/image" Target="/ppt/media/image38.png" Id="R525d95f5d8be42e2" /><Relationship Type="http://schemas.openxmlformats.org/officeDocument/2006/relationships/image" Target="/ppt/media/image39.png" Id="R6f12ab3978e241be" /><Relationship Type="http://schemas.openxmlformats.org/officeDocument/2006/relationships/image" Target="/ppt/media/image40.png" Id="R92987bb85abf4d9b" /><Relationship Type="http://schemas.openxmlformats.org/officeDocument/2006/relationships/image" Target="/ppt/media/image41.png" Id="R18b9f778dab24e7c" /><Relationship Type="http://schemas.openxmlformats.org/officeDocument/2006/relationships/image" Target="/ppt/media/image42.png" Id="R829ba28d8a5f44b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0" y="6729984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80eacacde4d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22960" y="8686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00003" name="TextBox 3"/>
          <p:cNvSpPr txBox="1"/>
          <p:nvPr/>
        </p:nvSpPr>
        <p:spPr>
          <a:xfrm xmlns:a="http://schemas.openxmlformats.org/drawingml/2006/main">
            <a:off x="777240" y="1965960"/>
            <a:ext cx="10607040" cy="100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4000" b="1" i="0">
                <a:solidFill>
                  <a:srgbClr val="FFFFFF"/>
                </a:solidFill>
                <a:latin typeface="Microsoft JhengHei"/>
                <a:ea typeface="Microsoft JhengHei"/>
              </a:rPr>
              <a:t>AI 情報週報</a:t>
            </a:r>
          </a:p>
        </p:txBody>
      </p: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822960" y="2880360"/>
            <a:ext cx="1060704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0" i="0">
                <a:solidFill>
                  <a:srgbClr val="CADCFC"/>
                </a:solidFill>
                <a:latin typeface="Microsoft JhengHei"/>
                <a:ea typeface="Microsoft JhengHei"/>
              </a:rPr>
              <a:t>三項可分享項目摘要</a:t>
            </a:r>
          </a:p>
        </p:txBody>
      </p:sp>
      <p:sp>
        <p:nvSpPr>
          <p:cNvPr id="100005" name="TextBox 5"/>
          <p:cNvSpPr txBox="1"/>
          <p:nvPr/>
        </p:nvSpPr>
        <p:spPr>
          <a:xfrm xmlns:a="http://schemas.openxmlformats.org/drawingml/2006/main">
            <a:off x="822960" y="3703320"/>
            <a:ext cx="105156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600" b="0" i="0">
                <a:solidFill>
                  <a:srgbClr val="FFFFFF"/>
                </a:solidFill>
                <a:latin typeface="Microsoft JhengHei"/>
                <a:ea typeface="Microsoft JhengHei"/>
              </a:rPr>
              <a:t>Discord 治理案例   ×   Cloudflare Kitesurf   ×   OfficeCLI</a:t>
            </a:r>
          </a:p>
        </p:txBody>
      </p:sp>
      <p:sp>
        <p:nvSpPr>
          <p:cNvPr id="100006" name="TextBox 6"/>
          <p:cNvSpPr/>
          <p:nvPr/>
        </p:nvSpPr>
        <p:spPr>
          <a:xfrm xmlns:a="http://schemas.openxmlformats.org/drawingml/2006/main">
            <a:off x="822960" y="4709160"/>
            <a:ext cx="29260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7"/>
          <p:cNvSpPr txBox="1"/>
          <p:nvPr/>
        </p:nvSpPr>
        <p:spPr>
          <a:xfrm xmlns:a="http://schemas.openxmlformats.org/drawingml/2006/main">
            <a:off x="822960" y="4892040"/>
            <a:ext cx="5486400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300" b="0" i="0">
                <a:solidFill>
                  <a:srgbClr val="9FB0D0"/>
                </a:solidFill>
                <a:latin typeface="Microsoft JhengHei"/>
                <a:ea typeface="Microsoft JhengHei"/>
              </a:rPr>
              <a:t>整理：釗</a:t>
            </a:r>
          </a:p>
          <a:p xmlns:a="http://schemas.openxmlformats.org/drawingml/2006/main">
            <a:pPr algn="l"/>
            <a:r>
              <a:rPr lang="en-US" sz="1300" b="0" i="0">
                <a:solidFill>
                  <a:srgbClr val="9FB0D0"/>
                </a:solidFill>
                <a:latin typeface="Microsoft JhengHei"/>
                <a:ea typeface="Microsoft JhengHei"/>
              </a:rPr>
              <a:t>日期：2026-08-13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08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640080" y="201168"/>
            <a:ext cx="105156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開場｜本次篩選標準</a:t>
            </a:r>
          </a:p>
        </p:txBody>
      </p:sp>
      <p:sp>
        <p:nvSpPr>
          <p:cNvPr id="100010" name="TextBox 3"/>
          <p:cNvSpPr/>
          <p:nvPr/>
        </p:nvSpPr>
        <p:spPr>
          <a:xfrm xmlns:a="http://schemas.openxmlformats.org/drawingml/2006/main">
            <a:off x="640080" y="1417320"/>
            <a:ext cx="356616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TextBox 4"/>
          <p:cNvSpPr/>
          <p:nvPr/>
        </p:nvSpPr>
        <p:spPr>
          <a:xfrm xmlns:a="http://schemas.openxmlformats.org/drawingml/2006/main">
            <a:off x="960120" y="17373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7f2c2a3f545a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24712" y="19019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00013" name="TextBox 5"/>
          <p:cNvSpPr txBox="1"/>
          <p:nvPr/>
        </p:nvSpPr>
        <p:spPr>
          <a:xfrm xmlns:a="http://schemas.openxmlformats.org/drawingml/2006/main">
            <a:off x="960120" y="2560320"/>
            <a:ext cx="292608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7324A"/>
                </a:solidFill>
                <a:latin typeface="Microsoft JhengHei"/>
                <a:ea typeface="Microsoft JhengHei"/>
              </a:rPr>
              <a:t>新聞內容查證屬實</a:t>
            </a:r>
          </a:p>
        </p:txBody>
      </p:sp>
      <p:sp>
        <p:nvSpPr>
          <p:cNvPr id="100014" name="TextBox 6"/>
          <p:cNvSpPr txBox="1"/>
          <p:nvPr/>
        </p:nvSpPr>
        <p:spPr>
          <a:xfrm xmlns:a="http://schemas.openxmlformats.org/drawingml/2006/main">
            <a:off x="960120" y="3291840"/>
            <a:ext cx="292608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逐條核對原始來源，排除數字誇大或引用錯置的項目</a:t>
            </a:r>
          </a:p>
        </p:txBody>
      </p:sp>
      <p:sp>
        <p:nvSpPr>
          <p:cNvPr id="100015" name="TextBox 7"/>
          <p:cNvSpPr/>
          <p:nvPr/>
        </p:nvSpPr>
        <p:spPr>
          <a:xfrm xmlns:a="http://schemas.openxmlformats.org/drawingml/2006/main">
            <a:off x="4434840" y="1417320"/>
            <a:ext cx="356616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TextBox 8"/>
          <p:cNvSpPr/>
          <p:nvPr/>
        </p:nvSpPr>
        <p:spPr>
          <a:xfrm xmlns:a="http://schemas.openxmlformats.org/drawingml/2006/main">
            <a:off x="4754880" y="17373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56ef4fde0428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919472" y="19019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00018" name="TextBox 9"/>
          <p:cNvSpPr txBox="1"/>
          <p:nvPr/>
        </p:nvSpPr>
        <p:spPr>
          <a:xfrm xmlns:a="http://schemas.openxmlformats.org/drawingml/2006/main">
            <a:off x="4754880" y="2560320"/>
            <a:ext cx="292608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7324A"/>
                </a:solidFill>
                <a:latin typeface="Microsoft JhengHei"/>
                <a:ea typeface="Microsoft JhengHei"/>
              </a:rPr>
              <a:t>資安風險可控</a:t>
            </a:r>
          </a:p>
        </p:txBody>
      </p:sp>
      <p:sp>
        <p:nvSpPr>
          <p:cNvPr id="100019" name="TextBox 10"/>
          <p:cNvSpPr txBox="1"/>
          <p:nvPr/>
        </p:nvSpPr>
        <p:spPr>
          <a:xfrm xmlns:a="http://schemas.openxmlformats.org/drawingml/2006/main">
            <a:off x="4754880" y="3291840"/>
            <a:ext cx="292608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已做原始碼層級查核，風險項目有明確緩解方式</a:t>
            </a:r>
          </a:p>
        </p:txBody>
      </p:sp>
      <p:sp>
        <p:nvSpPr>
          <p:cNvPr id="100020" name="TextBox 11"/>
          <p:cNvSpPr/>
          <p:nvPr/>
        </p:nvSpPr>
        <p:spPr>
          <a:xfrm xmlns:a="http://schemas.openxmlformats.org/drawingml/2006/main">
            <a:off x="8229600" y="1417320"/>
            <a:ext cx="356616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1" name="TextBox 12"/>
          <p:cNvSpPr/>
          <p:nvPr/>
        </p:nvSpPr>
        <p:spPr>
          <a:xfrm xmlns:a="http://schemas.openxmlformats.org/drawingml/2006/main">
            <a:off x="8549640" y="17373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2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986a3b3eb41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8714232" y="19019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00023" name="TextBox 13"/>
          <p:cNvSpPr txBox="1"/>
          <p:nvPr/>
        </p:nvSpPr>
        <p:spPr>
          <a:xfrm xmlns:a="http://schemas.openxmlformats.org/drawingml/2006/main">
            <a:off x="8549640" y="2560320"/>
            <a:ext cx="292608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500" b="1" i="0">
                <a:solidFill>
                  <a:srgbClr val="27324A"/>
                </a:solidFill>
                <a:latin typeface="Microsoft JhengHei"/>
                <a:ea typeface="Microsoft JhengHei"/>
              </a:rPr>
              <a:t>對我們團隊有實質幫助</a:t>
            </a:r>
          </a:p>
        </p:txBody>
      </p:sp>
      <p:sp>
        <p:nvSpPr>
          <p:cNvPr id="100024" name="TextBox 14"/>
          <p:cNvSpPr txBox="1"/>
          <p:nvPr/>
        </p:nvSpPr>
        <p:spPr>
          <a:xfrm xmlns:a="http://schemas.openxmlformats.org/drawingml/2006/main">
            <a:off x="8549640" y="3291840"/>
            <a:ext cx="292608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直接對應程式／企劃／運營／資安其中一個團隊的具體痛點</a:t>
            </a:r>
          </a:p>
        </p:txBody>
      </p:sp>
      <p:sp>
        <p:nvSpPr>
          <p:cNvPr id="100025" name="TextBox 15"/>
          <p:cNvSpPr/>
          <p:nvPr/>
        </p:nvSpPr>
        <p:spPr>
          <a:xfrm xmlns:a="http://schemas.openxmlformats.org/drawingml/2006/main">
            <a:off x="640080" y="4526280"/>
            <a:ext cx="108813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1E7"/>
          </a:solidFill>
          <a:ln xmlns:a="http://schemas.openxmlformats.org/drawingml/2006/main">
            <a:solidFill>
              <a:srgbClr val="F0D5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6" name="TextBox 16"/>
          <p:cNvSpPr txBox="1"/>
          <p:nvPr/>
        </p:nvSpPr>
        <p:spPr>
          <a:xfrm xmlns:a="http://schemas.openxmlformats.org/drawingml/2006/main">
            <a:off x="914400" y="4709160"/>
            <a:ext cx="10332720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27324A"/>
                </a:solidFill>
                <a:latin typeface="Microsoft JhengHei"/>
                <a:ea typeface="Microsoft JhengHei"/>
              </a:rPr>
              <a:t>從14則AI情報項目中，依上述三項標準篩出3篇。</a:t>
            </a:r>
          </a:p>
          <a:p xmlns:a="http://schemas.openxmlformats.org/drawingml/2006/main">
            <a:pPr algn="l"/>
            <a:r>
              <a:rPr lang="en-US" sz="1250" b="0" i="0">
                <a:solidFill>
                  <a:srgbClr val="27324A"/>
                </a:solidFill>
                <a:latin typeface="Microsoft JhengHei"/>
                <a:ea typeface="Microsoft JhengHei"/>
              </a:rPr>
              <a:t>其餘11篇因資安風險偏高（多為出廠預設值即高風險）、新聞內容有誤，或屬性不適合廣泛分享，暫不對外公開，先保留在工程／資安團隊內部評估</a:t>
            </a:r>
          </a:p>
        </p:txBody>
      </p:sp>
      <p:sp>
        <p:nvSpPr>
          <p:cNvPr id="100027" name="TextBox 1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AI情報週報｜篩選標準</a:t>
            </a:r>
          </a:p>
        </p:txBody>
      </p:sp>
      <p:sp>
        <p:nvSpPr>
          <p:cNvPr id="100028" name="TextBox 1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029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TextBox 2"/>
          <p:cNvSpPr txBox="1"/>
          <p:nvPr/>
        </p:nvSpPr>
        <p:spPr>
          <a:xfrm xmlns:a="http://schemas.openxmlformats.org/drawingml/2006/main">
            <a:off x="868680" y="1417320"/>
            <a:ext cx="27432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8000" b="1" i="0">
                <a:solidFill>
                  <a:srgbClr val="2B3A5C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100031" name="TextBox 3"/>
          <p:cNvSpPr/>
          <p:nvPr/>
        </p:nvSpPr>
        <p:spPr>
          <a:xfrm xmlns:a="http://schemas.openxmlformats.org/drawingml/2006/main">
            <a:off x="914400" y="30632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36ce352ec45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3856" y="3282696"/>
            <a:ext cx="429768" cy="429768"/>
          </a:xfrm>
          <a:prstGeom xmlns:a="http://schemas.openxmlformats.org/drawingml/2006/main" prst="rect">
            <a:avLst/>
          </a:prstGeom>
        </p:spPr>
      </p:pic>
      <p:sp>
        <p:nvSpPr>
          <p:cNvPr id="100033" name="TextBox 4"/>
          <p:cNvSpPr txBox="1"/>
          <p:nvPr/>
        </p:nvSpPr>
        <p:spPr>
          <a:xfrm xmlns:a="http://schemas.openxmlformats.org/drawingml/2006/main">
            <a:off x="2011680" y="3127248"/>
            <a:ext cx="896112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800" b="1" i="0">
                <a:solidFill>
                  <a:srgbClr val="FFFFFF"/>
                </a:solidFill>
                <a:latin typeface="Microsoft JhengHei"/>
                <a:ea typeface="Microsoft JhengHei"/>
              </a:rPr>
              <a:t>Discord AI自動執法錯誤</a:t>
            </a:r>
          </a:p>
        </p:txBody>
      </p:sp>
      <p:sp>
        <p:nvSpPr>
          <p:cNvPr id="100034" name="TextBox 5"/>
          <p:cNvSpPr txBox="1"/>
          <p:nvPr/>
        </p:nvSpPr>
        <p:spPr>
          <a:xfrm xmlns:a="http://schemas.openxmlformats.org/drawingml/2006/main">
            <a:off x="2011680" y="3703320"/>
            <a:ext cx="87782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0" i="0">
                <a:solidFill>
                  <a:srgbClr val="9FB0D0"/>
                </a:solidFill>
                <a:latin typeface="Microsoft JhengHei"/>
                <a:ea typeface="Microsoft JhengHei"/>
              </a:rPr>
              <a:t>平台治理借鏡｜當AI審核系統沒有人工複核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35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6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案例一｜事件是什麼</a:t>
            </a:r>
          </a:p>
        </p:txBody>
      </p:sp>
      <p:sp>
        <p:nvSpPr>
          <p:cNvPr id="100037" name="TextBox 3"/>
          <p:cNvSpPr/>
          <p:nvPr/>
        </p:nvSpPr>
        <p:spPr>
          <a:xfrm xmlns:a="http://schemas.openxmlformats.org/drawingml/2006/main">
            <a:off x="640080" y="1280160"/>
            <a:ext cx="3566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AC2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TextBox 4"/>
          <p:cNvSpPr txBox="1"/>
          <p:nvPr/>
        </p:nvSpPr>
        <p:spPr>
          <a:xfrm xmlns:a="http://schemas.openxmlformats.org/drawingml/2006/main">
            <a:off x="640080" y="1371600"/>
            <a:ext cx="356616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3000" b="1" i="0">
                <a:solidFill>
                  <a:srgbClr val="C0392B"/>
                </a:solidFill>
                <a:latin typeface="Microsoft JhengHei"/>
                <a:ea typeface="Microsoft JhengHei"/>
              </a:rPr>
              <a:t>8,000+</a:t>
            </a:r>
          </a:p>
        </p:txBody>
      </p:sp>
      <p:sp>
        <p:nvSpPr>
          <p:cNvPr id="100039" name="TextBox 5"/>
          <p:cNvSpPr txBox="1"/>
          <p:nvPr/>
        </p:nvSpPr>
        <p:spPr>
          <a:xfrm xmlns:a="http://schemas.openxmlformats.org/drawingml/2006/main">
            <a:off x="640080" y="2103120"/>
            <a:ext cx="35661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帳號遭永久停權</a:t>
            </a:r>
          </a:p>
        </p:txBody>
      </p:sp>
      <p:sp>
        <p:nvSpPr>
          <p:cNvPr id="100040" name="TextBox 6"/>
          <p:cNvSpPr/>
          <p:nvPr/>
        </p:nvSpPr>
        <p:spPr>
          <a:xfrm xmlns:a="http://schemas.openxmlformats.org/drawingml/2006/main">
            <a:off x="4434840" y="1280160"/>
            <a:ext cx="3566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AC2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TextBox 7"/>
          <p:cNvSpPr txBox="1"/>
          <p:nvPr/>
        </p:nvSpPr>
        <p:spPr>
          <a:xfrm xmlns:a="http://schemas.openxmlformats.org/drawingml/2006/main">
            <a:off x="4434840" y="1371600"/>
            <a:ext cx="356616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3000" b="1" i="0">
                <a:solidFill>
                  <a:srgbClr val="C0392B"/>
                </a:solidFill>
                <a:latin typeface="Microsoft JhengHei"/>
                <a:ea typeface="Microsoft JhengHei"/>
              </a:rPr>
              <a:t>5-7月</a:t>
            </a:r>
          </a:p>
        </p:txBody>
      </p:sp>
      <p:sp>
        <p:nvSpPr>
          <p:cNvPr id="100042" name="TextBox 8"/>
          <p:cNvSpPr txBox="1"/>
          <p:nvPr/>
        </p:nvSpPr>
        <p:spPr>
          <a:xfrm xmlns:a="http://schemas.openxmlformats.org/drawingml/2006/main">
            <a:off x="4434840" y="2103120"/>
            <a:ext cx="35661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誤判事件發生期間</a:t>
            </a:r>
          </a:p>
        </p:txBody>
      </p:sp>
      <p:sp>
        <p:nvSpPr>
          <p:cNvPr id="100043" name="TextBox 9"/>
          <p:cNvSpPr/>
          <p:nvPr/>
        </p:nvSpPr>
        <p:spPr>
          <a:xfrm xmlns:a="http://schemas.openxmlformats.org/drawingml/2006/main">
            <a:off x="8229600" y="1280160"/>
            <a:ext cx="3566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AC2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10"/>
          <p:cNvSpPr txBox="1"/>
          <p:nvPr/>
        </p:nvSpPr>
        <p:spPr>
          <a:xfrm xmlns:a="http://schemas.openxmlformats.org/drawingml/2006/main">
            <a:off x="8229600" y="1371600"/>
            <a:ext cx="356616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3000" b="1" i="0">
                <a:solidFill>
                  <a:srgbClr val="C0392B"/>
                </a:solidFill>
                <a:latin typeface="Microsoft JhengHei"/>
                <a:ea typeface="Microsoft JhengHei"/>
              </a:rPr>
              <a:t>~2個月</a:t>
            </a:r>
          </a:p>
        </p:txBody>
      </p:sp>
      <p:sp>
        <p:nvSpPr>
          <p:cNvPr id="100045" name="TextBox 11"/>
          <p:cNvSpPr txBox="1"/>
          <p:nvPr/>
        </p:nvSpPr>
        <p:spPr>
          <a:xfrm xmlns:a="http://schemas.openxmlformats.org/drawingml/2006/main">
            <a:off x="8229600" y="2103120"/>
            <a:ext cx="35661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才查出根因並公開說明</a:t>
            </a:r>
          </a:p>
        </p:txBody>
      </p:sp>
      <p:sp>
        <p:nvSpPr>
          <p:cNvPr id="100046" name="TextBox 12"/>
          <p:cNvSpPr txBox="1"/>
          <p:nvPr/>
        </p:nvSpPr>
        <p:spPr>
          <a:xfrm xmlns:a="http://schemas.openxmlformats.org/drawingml/2006/main">
            <a:off x="640080" y="2971800"/>
            <a:ext cx="10881360" cy="292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Discord 於2026年7月公開證實：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AI自動審核系統的程式錯誤，5至7月間陸續將棋盤截圖、Excel表格、遊戲貼圖、純色透明背景圖片，誤判為違規內容（誤歸類為兒少不當內容等高風險類別）。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超過8,000個帳號遭永久停權，且原本設計用來自動恢復的機制同時故障，受害用戶必須等Discord人工介入才能逐一還原。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事件延燒約兩個月才被抓到根因並公開說明。</a:t>
            </a:r>
          </a:p>
        </p:txBody>
      </p:sp>
      <p:sp>
        <p:nvSpPr>
          <p:cNvPr id="100047" name="TextBox 13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案例一：Discord AI自動執法錯誤</a:t>
            </a:r>
          </a:p>
        </p:txBody>
      </p:sp>
      <p:sp>
        <p:nvSpPr>
          <p:cNvPr id="100048" name="TextBox 14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49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案例一｜為什麼跟我們有關</a:t>
            </a:r>
          </a:p>
        </p:txBody>
      </p:sp>
      <p:sp>
        <p:nvSpPr>
          <p:cNvPr id="100051" name="TextBox 3"/>
          <p:cNvSpPr/>
          <p:nvPr/>
        </p:nvSpPr>
        <p:spPr>
          <a:xfrm xmlns:a="http://schemas.openxmlformats.org/drawingml/2006/main">
            <a:off x="640080" y="1188720"/>
            <a:ext cx="108813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TextBox 4"/>
          <p:cNvSpPr txBox="1"/>
          <p:nvPr/>
        </p:nvSpPr>
        <p:spPr>
          <a:xfrm xmlns:a="http://schemas.openxmlformats.org/drawingml/2006/main">
            <a:off x="868680" y="1280160"/>
            <a:ext cx="10424160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0" i="1">
                <a:solidFill>
                  <a:srgbClr val="FFFFFF"/>
                </a:solidFill>
                <a:latin typeface="Microsoft JhengHei"/>
                <a:ea typeface="Microsoft JhengHei"/>
              </a:rPr>
              <a:t>這不是假設性風險，是我們遲早會面對的決策——玩家社群規模成長後，人工審核聊天/UGC內容的量遲早超過人力負荷，Discord案例告訴我們的是「怎麼導入會出事」，而不是「要不要導入」。</a:t>
            </a:r>
          </a:p>
        </p:txBody>
      </p:sp>
      <p:sp>
        <p:nvSpPr>
          <p:cNvPr id="100053" name="TextBox 5"/>
          <p:cNvSpPr/>
          <p:nvPr/>
        </p:nvSpPr>
        <p:spPr>
          <a:xfrm xmlns:a="http://schemas.openxmlformats.org/drawingml/2006/main">
            <a:off x="640080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5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3b81c5cbd4e0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234086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055" name="TextBox 6"/>
          <p:cNvSpPr txBox="1"/>
          <p:nvPr/>
        </p:nvSpPr>
        <p:spPr>
          <a:xfrm xmlns:a="http://schemas.openxmlformats.org/drawingml/2006/main">
            <a:off x="1280160" y="2130552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玩家申訴時我們可能說不清楚原因</a:t>
            </a:r>
          </a:p>
        </p:txBody>
      </p:sp>
      <p:sp>
        <p:nvSpPr>
          <p:cNvPr id="100056" name="TextBox 7"/>
          <p:cNvSpPr txBox="1"/>
          <p:nvPr/>
        </p:nvSpPr>
        <p:spPr>
          <a:xfrm xmlns:a="http://schemas.openxmlformats.org/drawingml/2006/main">
            <a:off x="1280160" y="2450592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遊戲內聊天、玩家自製圖片/暱稱若比照Discord做法（AI判定→自動永久懲罰→無複核），誤判邏輯一旦違反直覺，客服壓力會直接反映在工單量與退費/申訴案件上</a:t>
            </a:r>
          </a:p>
        </p:txBody>
      </p:sp>
      <p:sp>
        <p:nvSpPr>
          <p:cNvPr id="100057" name="TextBox 8"/>
          <p:cNvSpPr/>
          <p:nvPr/>
        </p:nvSpPr>
        <p:spPr>
          <a:xfrm xmlns:a="http://schemas.openxmlformats.org/drawingml/2006/main">
            <a:off x="640080" y="32095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5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28d98aa5e4b7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33284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059" name="TextBox 9"/>
          <p:cNvSpPr txBox="1"/>
          <p:nvPr/>
        </p:nvSpPr>
        <p:spPr>
          <a:xfrm xmlns:a="http://schemas.openxmlformats.org/drawingml/2006/main">
            <a:off x="1280160" y="3118104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復原路徑要單獨測試，不能只驗證判定準不準</a:t>
            </a:r>
          </a:p>
        </p:txBody>
      </p:sp>
      <p:sp>
        <p:nvSpPr>
          <p:cNvPr id="100060" name="TextBox 10"/>
          <p:cNvSpPr txBox="1"/>
          <p:nvPr/>
        </p:nvSpPr>
        <p:spPr>
          <a:xfrm xmlns:a="http://schemas.openxmlformats.org/drawingml/2006/main">
            <a:off x="1280160" y="3438144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Discord的復權機制跟著判定系統一起故障——自動化系統的「錯了之後多快能救回來」和「判不判得準」同樣重要，必須分開驗證</a:t>
            </a:r>
          </a:p>
        </p:txBody>
      </p:sp>
      <p:sp>
        <p:nvSpPr>
          <p:cNvPr id="100061" name="TextBox 11"/>
          <p:cNvSpPr/>
          <p:nvPr/>
        </p:nvSpPr>
        <p:spPr>
          <a:xfrm xmlns:a="http://schemas.openxmlformats.org/drawingml/2006/main">
            <a:off x="640080" y="4197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6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c26e49b2745b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43159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063" name="TextBox 12"/>
          <p:cNvSpPr txBox="1"/>
          <p:nvPr/>
        </p:nvSpPr>
        <p:spPr>
          <a:xfrm xmlns:a="http://schemas.openxmlformats.org/drawingml/2006/main">
            <a:off x="1280160" y="4105656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對營運指標的實際衝擊</a:t>
            </a:r>
          </a:p>
        </p:txBody>
      </p:sp>
      <p:sp>
        <p:nvSpPr>
          <p:cNvPr id="100064" name="TextBox 13"/>
          <p:cNvSpPr txBox="1"/>
          <p:nvPr/>
        </p:nvSpPr>
        <p:spPr>
          <a:xfrm xmlns:a="http://schemas.openxmlformats.org/drawingml/2006/main">
            <a:off x="1280160" y="4425696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大量誤封會直接反映在DAU/付費玩家流失、應用商店負評、社群輿論——尤其華語玩家社群對「被冤枉停權」容忍度極低，容易釀成公關事件</a:t>
            </a:r>
          </a:p>
        </p:txBody>
      </p:sp>
      <p:sp>
        <p:nvSpPr>
          <p:cNvPr id="100065" name="TextBox 14"/>
          <p:cNvSpPr/>
          <p:nvPr/>
        </p:nvSpPr>
        <p:spPr>
          <a:xfrm xmlns:a="http://schemas.openxmlformats.org/drawingml/2006/main">
            <a:off x="640080" y="5184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6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db9dc5b4a49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530352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067" name="TextBox 15"/>
          <p:cNvSpPr txBox="1"/>
          <p:nvPr/>
        </p:nvSpPr>
        <p:spPr>
          <a:xfrm xmlns:a="http://schemas.openxmlformats.org/drawingml/2006/main">
            <a:off x="1280160" y="5093208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檢視現有系統設計的具體檢查清單</a:t>
            </a:r>
          </a:p>
        </p:txBody>
      </p:sp>
      <p:sp>
        <p:nvSpPr>
          <p:cNvPr id="100068" name="TextBox 16"/>
          <p:cNvSpPr txBox="1"/>
          <p:nvPr/>
        </p:nvSpPr>
        <p:spPr>
          <a:xfrm xmlns:a="http://schemas.openxmlformats.org/drawingml/2006/main">
            <a:off x="1280160" y="5413248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若運營團隊已有或正評估玩家行為監控、聊天過濾、UGC審核系統，這則案例可用來檢查是否存在「AI單獨下最終處分」這個危險模式</a:t>
            </a:r>
          </a:p>
        </p:txBody>
      </p:sp>
      <p:sp>
        <p:nvSpPr>
          <p:cNvPr id="100069" name="TextBox 1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案例一：Discord AI自動執法錯誤</a:t>
            </a:r>
          </a:p>
        </p:txBody>
      </p:sp>
      <p:sp>
        <p:nvSpPr>
          <p:cNvPr id="100070" name="TextBox 1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071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案例一｜我們該怎麼做</a:t>
            </a:r>
          </a:p>
        </p:txBody>
      </p:sp>
      <p:sp>
        <p:nvSpPr>
          <p:cNvPr id="100073" name="TextBox 3"/>
          <p:cNvSpPr/>
          <p:nvPr/>
        </p:nvSpPr>
        <p:spPr>
          <a:xfrm xmlns:a="http://schemas.openxmlformats.org/drawingml/2006/main">
            <a:off x="640080" y="1325880"/>
            <a:ext cx="5257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TextBox 4"/>
          <p:cNvSpPr/>
          <p:nvPr/>
        </p:nvSpPr>
        <p:spPr>
          <a:xfrm xmlns:a="http://schemas.openxmlformats.org/drawingml/2006/main">
            <a:off x="640080" y="1325880"/>
            <a:ext cx="82296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TextBox 5"/>
          <p:cNvSpPr/>
          <p:nvPr/>
        </p:nvSpPr>
        <p:spPr>
          <a:xfrm xmlns:a="http://schemas.openxmlformats.org/drawingml/2006/main">
            <a:off x="914400" y="158191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7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46123b96e49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2416" y="17099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00077" name="TextBox 6"/>
          <p:cNvSpPr txBox="1"/>
          <p:nvPr/>
        </p:nvSpPr>
        <p:spPr>
          <a:xfrm xmlns:a="http://schemas.openxmlformats.org/drawingml/2006/main">
            <a:off x="1600200" y="1527048"/>
            <a:ext cx="402336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300" b="1" i="0">
                <a:solidFill>
                  <a:srgbClr val="27324A"/>
                </a:solidFill>
                <a:latin typeface="Microsoft JhengHei"/>
                <a:ea typeface="Microsoft JhengHei"/>
              </a:rPr>
              <a:t>永久性懲罰必須保留人工複核關卡</a:t>
            </a:r>
          </a:p>
        </p:txBody>
      </p:sp>
      <p:sp>
        <p:nvSpPr>
          <p:cNvPr id="100078" name="TextBox 7"/>
          <p:cNvSpPr txBox="1"/>
          <p:nvPr/>
        </p:nvSpPr>
        <p:spPr>
          <a:xfrm xmlns:a="http://schemas.openxmlformats.org/drawingml/2006/main">
            <a:off x="914400" y="2286000"/>
            <a:ext cx="4709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永久停權、刪除帳號資產等最終處分，AI只能建議、不能單獨執行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6263640" y="1325880"/>
            <a:ext cx="5257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6263640" y="1325880"/>
            <a:ext cx="82296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6537960" y="158191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8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10c9af57a41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65976" y="17099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00083" name="TextBox 11"/>
          <p:cNvSpPr txBox="1"/>
          <p:nvPr/>
        </p:nvSpPr>
        <p:spPr>
          <a:xfrm xmlns:a="http://schemas.openxmlformats.org/drawingml/2006/main">
            <a:off x="7223760" y="1527048"/>
            <a:ext cx="402336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300" b="1" i="0">
                <a:solidFill>
                  <a:srgbClr val="27324A"/>
                </a:solidFill>
                <a:latin typeface="Microsoft JhengHei"/>
                <a:ea typeface="Microsoft JhengHei"/>
              </a:rPr>
              <a:t>AI僅用於初步分類與暫時性限制</a:t>
            </a:r>
          </a:p>
        </p:txBody>
      </p:sp>
      <p:sp>
        <p:nvSpPr>
          <p:cNvPr id="100084" name="TextBox 12"/>
          <p:cNvSpPr txBox="1"/>
          <p:nvPr/>
        </p:nvSpPr>
        <p:spPr>
          <a:xfrm xmlns:a="http://schemas.openxmlformats.org/drawingml/2006/main">
            <a:off x="6537960" y="2286000"/>
            <a:ext cx="4709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如暫停上傳、暫時禁言24小時，且暫時性限制本身要有清楚的自動解除時效</a:t>
            </a:r>
          </a:p>
        </p:txBody>
      </p:sp>
      <p:sp>
        <p:nvSpPr>
          <p:cNvPr id="100085" name="TextBox 13"/>
          <p:cNvSpPr/>
          <p:nvPr/>
        </p:nvSpPr>
        <p:spPr>
          <a:xfrm xmlns:a="http://schemas.openxmlformats.org/drawingml/2006/main">
            <a:off x="640080" y="3383280"/>
            <a:ext cx="5257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TextBox 14"/>
          <p:cNvSpPr/>
          <p:nvPr/>
        </p:nvSpPr>
        <p:spPr>
          <a:xfrm xmlns:a="http://schemas.openxmlformats.org/drawingml/2006/main">
            <a:off x="640080" y="3383280"/>
            <a:ext cx="82296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7" name="TextBox 15"/>
          <p:cNvSpPr/>
          <p:nvPr/>
        </p:nvSpPr>
        <p:spPr>
          <a:xfrm xmlns:a="http://schemas.openxmlformats.org/drawingml/2006/main">
            <a:off x="914400" y="363931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8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55744833144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2416" y="37673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00089" name="TextBox 16"/>
          <p:cNvSpPr txBox="1"/>
          <p:nvPr/>
        </p:nvSpPr>
        <p:spPr>
          <a:xfrm xmlns:a="http://schemas.openxmlformats.org/drawingml/2006/main">
            <a:off x="1600200" y="3584448"/>
            <a:ext cx="402336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300" b="1" i="0">
                <a:solidFill>
                  <a:srgbClr val="27324A"/>
                </a:solidFill>
                <a:latin typeface="Microsoft JhengHei"/>
                <a:ea typeface="Microsoft JhengHei"/>
              </a:rPr>
              <a:t>復權機制要獨立於判定機制做壓力測試</a:t>
            </a:r>
          </a:p>
        </p:txBody>
      </p:sp>
      <p:sp>
        <p:nvSpPr>
          <p:cNvPr id="100090" name="TextBox 17"/>
          <p:cNvSpPr txBox="1"/>
          <p:nvPr/>
        </p:nvSpPr>
        <p:spPr>
          <a:xfrm xmlns:a="http://schemas.openxmlformats.org/drawingml/2006/main">
            <a:off x="914400" y="4343400"/>
            <a:ext cx="4709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比照Discord教訓，不能假設判定系統沒事、復原系統就一定正常運作</a:t>
            </a:r>
          </a:p>
        </p:txBody>
      </p:sp>
      <p:sp>
        <p:nvSpPr>
          <p:cNvPr id="100091" name="TextBox 18"/>
          <p:cNvSpPr/>
          <p:nvPr/>
        </p:nvSpPr>
        <p:spPr>
          <a:xfrm xmlns:a="http://schemas.openxmlformats.org/drawingml/2006/main">
            <a:off x="6263640" y="3383280"/>
            <a:ext cx="5257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TextBox 19"/>
          <p:cNvSpPr/>
          <p:nvPr/>
        </p:nvSpPr>
        <p:spPr>
          <a:xfrm xmlns:a="http://schemas.openxmlformats.org/drawingml/2006/main">
            <a:off x="6263640" y="3383280"/>
            <a:ext cx="82296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TextBox 20"/>
          <p:cNvSpPr/>
          <p:nvPr/>
        </p:nvSpPr>
        <p:spPr>
          <a:xfrm xmlns:a="http://schemas.openxmlformats.org/drawingml/2006/main">
            <a:off x="6537960" y="363931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9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2078283984d7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665976" y="37673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00095" name="TextBox 21"/>
          <p:cNvSpPr txBox="1"/>
          <p:nvPr/>
        </p:nvSpPr>
        <p:spPr>
          <a:xfrm xmlns:a="http://schemas.openxmlformats.org/drawingml/2006/main">
            <a:off x="7223760" y="3584448"/>
            <a:ext cx="402336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300" b="1" i="0">
                <a:solidFill>
                  <a:srgbClr val="27324A"/>
                </a:solidFill>
                <a:latin typeface="Microsoft JhengHei"/>
                <a:ea typeface="Microsoft JhengHei"/>
              </a:rPr>
              <a:t>建立快速申訴通道並定期稽核誤判率</a:t>
            </a:r>
          </a:p>
        </p:txBody>
      </p:sp>
      <p:sp>
        <p:nvSpPr>
          <p:cNvPr id="100096" name="TextBox 22"/>
          <p:cNvSpPr txBox="1"/>
          <p:nvPr/>
        </p:nvSpPr>
        <p:spPr>
          <a:xfrm xmlns:a="http://schemas.openxmlformats.org/drawingml/2006/main">
            <a:off x="6537960" y="4343400"/>
            <a:ext cx="4709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抽樣稽核AI審核結果，及早發現系統性誤判模式</a:t>
            </a:r>
          </a:p>
        </p:txBody>
      </p:sp>
      <p:sp>
        <p:nvSpPr>
          <p:cNvPr id="100097" name="TextBox 23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案例一：Discord AI自動執法錯誤</a:t>
            </a:r>
          </a:p>
        </p:txBody>
      </p:sp>
      <p:sp>
        <p:nvSpPr>
          <p:cNvPr id="100098" name="TextBox 24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099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TextBox 2"/>
          <p:cNvSpPr txBox="1"/>
          <p:nvPr/>
        </p:nvSpPr>
        <p:spPr>
          <a:xfrm xmlns:a="http://schemas.openxmlformats.org/drawingml/2006/main">
            <a:off x="868680" y="1417320"/>
            <a:ext cx="27432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8000" b="1" i="0">
                <a:solidFill>
                  <a:srgbClr val="2B3A5C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00101" name="TextBox 3"/>
          <p:cNvSpPr/>
          <p:nvPr/>
        </p:nvSpPr>
        <p:spPr>
          <a:xfrm xmlns:a="http://schemas.openxmlformats.org/drawingml/2006/main">
            <a:off x="914400" y="30632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0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602294dfb468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3856" y="3282696"/>
            <a:ext cx="429768" cy="429768"/>
          </a:xfrm>
          <a:prstGeom xmlns:a="http://schemas.openxmlformats.org/drawingml/2006/main" prst="rect">
            <a:avLst/>
          </a:prstGeom>
        </p:spPr>
      </p:pic>
      <p:sp>
        <p:nvSpPr>
          <p:cNvPr id="100103" name="TextBox 4"/>
          <p:cNvSpPr txBox="1"/>
          <p:nvPr/>
        </p:nvSpPr>
        <p:spPr>
          <a:xfrm xmlns:a="http://schemas.openxmlformats.org/drawingml/2006/main">
            <a:off x="2011680" y="3127248"/>
            <a:ext cx="896112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800" b="1" i="0">
                <a:solidFill>
                  <a:srgbClr val="FFFFFF"/>
                </a:solidFill>
                <a:latin typeface="Microsoft JhengHei"/>
                <a:ea typeface="Microsoft JhengHei"/>
              </a:rPr>
              <a:t>Cloudflare Kitesurf</a:t>
            </a:r>
          </a:p>
        </p:txBody>
      </p:sp>
      <p:sp>
        <p:nvSpPr>
          <p:cNvPr id="100104" name="TextBox 5"/>
          <p:cNvSpPr txBox="1"/>
          <p:nvPr/>
        </p:nvSpPr>
        <p:spPr>
          <a:xfrm xmlns:a="http://schemas.openxmlformats.org/drawingml/2006/main">
            <a:off x="2011680" y="3703320"/>
            <a:ext cx="87782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0" i="0">
                <a:solidFill>
                  <a:srgbClr val="9FB0D0"/>
                </a:solidFill>
                <a:latin typeface="Microsoft JhengHei"/>
                <a:ea typeface="Microsoft JhengHei"/>
              </a:rPr>
              <a:t>工具能力｜給AI agent用的瀏覽器引擎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105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案例二｜是什麼</a:t>
            </a:r>
          </a:p>
        </p:txBody>
      </p:sp>
      <p:sp>
        <p:nvSpPr>
          <p:cNvPr id="100107" name="TextBox 3"/>
          <p:cNvSpPr txBox="1"/>
          <p:nvPr/>
        </p:nvSpPr>
        <p:spPr>
          <a:xfrm xmlns:a="http://schemas.openxmlformats.org/drawingml/2006/main">
            <a:off x="640080" y="1234440"/>
            <a:ext cx="1088136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Cloudflare 於2026年8月6日發布，從零用Rust打造的瀏覽器引擎，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專為AI agent設計，編譯執行在Cloudflare Workers V8 isolate內（非Chromium fork）。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移除分頁、擴充套件等人機介面，主打「機器可讀輸出、無狀態可擴展架構」。</a:t>
            </a:r>
          </a:p>
        </p:txBody>
      </p:sp>
      <p:sp>
        <p:nvSpPr>
          <p:cNvPr id="100108" name="TextBox 4"/>
          <p:cNvSpPr/>
          <p:nvPr/>
        </p:nvSpPr>
        <p:spPr>
          <a:xfrm xmlns:a="http://schemas.openxmlformats.org/drawingml/2006/main">
            <a:off x="640080" y="2880360"/>
            <a:ext cx="35661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9" name="TextBox 5"/>
          <p:cNvSpPr txBox="1"/>
          <p:nvPr/>
        </p:nvSpPr>
        <p:spPr>
          <a:xfrm xmlns:a="http://schemas.openxmlformats.org/drawingml/2006/main">
            <a:off x="640080" y="3017520"/>
            <a:ext cx="3566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2800" b="1" i="0">
                <a:solidFill>
                  <a:srgbClr val="E8720C"/>
                </a:solidFill>
                <a:latin typeface="Microsoft JhengHei"/>
                <a:ea typeface="Microsoft JhengHei"/>
              </a:rPr>
              <a:t>1/3</a:t>
            </a:r>
          </a:p>
        </p:txBody>
      </p:sp>
      <p:sp>
        <p:nvSpPr>
          <p:cNvPr id="100110" name="TextBox 6"/>
          <p:cNvSpPr txBox="1"/>
          <p:nvPr/>
        </p:nvSpPr>
        <p:spPr>
          <a:xfrm xmlns:a="http://schemas.openxmlformats.org/drawingml/2006/main">
            <a:off x="640080" y="3794760"/>
            <a:ext cx="356616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50" b="0" i="0">
                <a:solidFill>
                  <a:srgbClr val="27324A"/>
                </a:solidFill>
                <a:latin typeface="Microsoft JhengHei"/>
                <a:ea typeface="Microsoft JhengHei"/>
              </a:rPr>
              <a:t>CPU用量（截圖任務）</a:t>
            </a:r>
          </a:p>
        </p:txBody>
      </p:sp>
      <p:sp>
        <p:nvSpPr>
          <p:cNvPr id="100111" name="TextBox 7"/>
          <p:cNvSpPr/>
          <p:nvPr/>
        </p:nvSpPr>
        <p:spPr>
          <a:xfrm xmlns:a="http://schemas.openxmlformats.org/drawingml/2006/main">
            <a:off x="4434840" y="2880360"/>
            <a:ext cx="35661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2" name="TextBox 8"/>
          <p:cNvSpPr txBox="1"/>
          <p:nvPr/>
        </p:nvSpPr>
        <p:spPr>
          <a:xfrm xmlns:a="http://schemas.openxmlformats.org/drawingml/2006/main">
            <a:off x="4434840" y="3017520"/>
            <a:ext cx="3566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2800" b="1" i="0">
                <a:solidFill>
                  <a:srgbClr val="E8720C"/>
                </a:solidFill>
                <a:latin typeface="Microsoft JhengHei"/>
                <a:ea typeface="Microsoft JhengHei"/>
              </a:rPr>
              <a:t>1/5～1/7</a:t>
            </a:r>
          </a:p>
        </p:txBody>
      </p:sp>
      <p:sp>
        <p:nvSpPr>
          <p:cNvPr id="100113" name="TextBox 9"/>
          <p:cNvSpPr txBox="1"/>
          <p:nvPr/>
        </p:nvSpPr>
        <p:spPr>
          <a:xfrm xmlns:a="http://schemas.openxmlformats.org/drawingml/2006/main">
            <a:off x="4434840" y="3794760"/>
            <a:ext cx="356616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50" b="0" i="0">
                <a:solidFill>
                  <a:srgbClr val="27324A"/>
                </a:solidFill>
                <a:latin typeface="Microsoft JhengHei"/>
                <a:ea typeface="Microsoft JhengHei"/>
              </a:rPr>
              <a:t>記憶體用量</a:t>
            </a:r>
          </a:p>
        </p:txBody>
      </p:sp>
      <p:sp>
        <p:nvSpPr>
          <p:cNvPr id="100114" name="TextBox 10"/>
          <p:cNvSpPr/>
          <p:nvPr/>
        </p:nvSpPr>
        <p:spPr>
          <a:xfrm xmlns:a="http://schemas.openxmlformats.org/drawingml/2006/main">
            <a:off x="8229600" y="2880360"/>
            <a:ext cx="35661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TextBox 11"/>
          <p:cNvSpPr txBox="1"/>
          <p:nvPr/>
        </p:nvSpPr>
        <p:spPr>
          <a:xfrm xmlns:a="http://schemas.openxmlformats.org/drawingml/2006/main">
            <a:off x="8229600" y="3017520"/>
            <a:ext cx="3566160" cy="777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2800" b="1" i="0">
                <a:solidFill>
                  <a:srgbClr val="E8720C"/>
                </a:solidFill>
                <a:latin typeface="Microsoft JhengHei"/>
                <a:ea typeface="Microsoft JhengHei"/>
              </a:rPr>
              <a:t>21.5萬+</a:t>
            </a:r>
          </a:p>
        </p:txBody>
      </p:sp>
      <p:sp>
        <p:nvSpPr>
          <p:cNvPr id="100116" name="TextBox 12"/>
          <p:cNvSpPr txBox="1"/>
          <p:nvPr/>
        </p:nvSpPr>
        <p:spPr>
          <a:xfrm xmlns:a="http://schemas.openxmlformats.org/drawingml/2006/main">
            <a:off x="8229600" y="3794760"/>
            <a:ext cx="356616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50" b="0" i="0">
                <a:solidFill>
                  <a:srgbClr val="27324A"/>
                </a:solidFill>
                <a:latin typeface="Microsoft JhengHei"/>
                <a:ea typeface="Microsoft JhengHei"/>
              </a:rPr>
              <a:t>Web Platform Tests 通過數</a:t>
            </a:r>
          </a:p>
        </p:txBody>
      </p:sp>
      <p:sp>
        <p:nvSpPr>
          <p:cNvPr id="100117" name="TextBox 13"/>
          <p:cNvSpPr/>
          <p:nvPr/>
        </p:nvSpPr>
        <p:spPr>
          <a:xfrm xmlns:a="http://schemas.openxmlformats.org/drawingml/2006/main">
            <a:off x="640080" y="4663440"/>
            <a:ext cx="108813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E"/>
          </a:solidFill>
          <a:ln xmlns:a="http://schemas.openxmlformats.org/drawingml/2006/main">
            <a:solidFill>
              <a:srgbClr val="F0CB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TextBox 14"/>
          <p:cNvSpPr txBox="1"/>
          <p:nvPr/>
        </p:nvSpPr>
        <p:spPr>
          <a:xfrm xmlns:a="http://schemas.openxmlformats.org/drawingml/2006/main">
            <a:off x="914400" y="4846320"/>
            <a:ext cx="1033272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27324A"/>
                </a:solidFill>
                <a:latin typeface="Microsoft JhengHei"/>
                <a:ea typeface="Microsoft JhengHei"/>
              </a:rPr>
              <a:t>相容 Puppeteer 與 Playwright 介面及 MCP client 存取，可作為現有網頁自動化任務的直接替代方案。</a:t>
            </a:r>
          </a:p>
        </p:txBody>
      </p:sp>
      <p:sp>
        <p:nvSpPr>
          <p:cNvPr id="100119" name="TextBox 15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案例二：Cloudflare Kitesurf</a:t>
            </a:r>
          </a:p>
        </p:txBody>
      </p:sp>
      <p:sp>
        <p:nvSpPr>
          <p:cNvPr id="100120" name="TextBox 16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121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2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案例二｜為什麼跟我們有關</a:t>
            </a:r>
          </a:p>
        </p:txBody>
      </p:sp>
      <p:sp>
        <p:nvSpPr>
          <p:cNvPr id="100123" name="TextBox 3"/>
          <p:cNvSpPr/>
          <p:nvPr/>
        </p:nvSpPr>
        <p:spPr>
          <a:xfrm xmlns:a="http://schemas.openxmlformats.org/drawingml/2006/main">
            <a:off x="640080" y="1188720"/>
            <a:ext cx="108813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TextBox 4"/>
          <p:cNvSpPr txBox="1"/>
          <p:nvPr/>
        </p:nvSpPr>
        <p:spPr>
          <a:xfrm xmlns:a="http://schemas.openxmlformats.org/drawingml/2006/main">
            <a:off x="868680" y="1280160"/>
            <a:ext cx="10424160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0" i="1">
                <a:solidFill>
                  <a:srgbClr val="FFFFFF"/>
                </a:solidFill>
                <a:latin typeface="Microsoft JhengHei"/>
                <a:ea typeface="Microsoft JhengHei"/>
              </a:rPr>
              <a:t>我們現在很可能已經在為「AI爬網頁」付出隱性成本——用一整個Chromium瀏覽器只為了讓AI讀懂一個頁面，是明顯的資源浪費，這部分雲端帳單可以直接省下來。</a:t>
            </a:r>
          </a:p>
        </p:txBody>
      </p:sp>
      <p:sp>
        <p:nvSpPr>
          <p:cNvPr id="100125" name="TextBox 5"/>
          <p:cNvSpPr/>
          <p:nvPr/>
        </p:nvSpPr>
        <p:spPr>
          <a:xfrm xmlns:a="http://schemas.openxmlformats.org/drawingml/2006/main">
            <a:off x="640080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2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f5e9a0b6343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234086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27" name="TextBox 6"/>
          <p:cNvSpPr txBox="1"/>
          <p:nvPr/>
        </p:nvSpPr>
        <p:spPr>
          <a:xfrm xmlns:a="http://schemas.openxmlformats.org/drawingml/2006/main">
            <a:off x="1280160" y="2130552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競品情報蒐集</a:t>
            </a:r>
          </a:p>
        </p:txBody>
      </p:sp>
      <p:sp>
        <p:nvSpPr>
          <p:cNvPr id="100128" name="TextBox 7"/>
          <p:cNvSpPr txBox="1"/>
          <p:nvPr/>
        </p:nvSpPr>
        <p:spPr>
          <a:xfrm xmlns:a="http://schemas.openxmlformats.org/drawingml/2006/main">
            <a:off x="1280160" y="2450592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企劃/營運團隊定期追蹤同業遊戲公告、活動、更新頻率的爬取排程，改用Kitesurf能用更低成本跑更高頻率的監控</a:t>
            </a:r>
          </a:p>
        </p:txBody>
      </p:sp>
      <p:sp>
        <p:nvSpPr>
          <p:cNvPr id="100129" name="TextBox 8"/>
          <p:cNvSpPr/>
          <p:nvPr/>
        </p:nvSpPr>
        <p:spPr>
          <a:xfrm xmlns:a="http://schemas.openxmlformats.org/drawingml/2006/main">
            <a:off x="640080" y="32095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cd98ece684b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33284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31" name="TextBox 9"/>
          <p:cNvSpPr txBox="1"/>
          <p:nvPr/>
        </p:nvSpPr>
        <p:spPr>
          <a:xfrm xmlns:a="http://schemas.openxmlformats.org/drawingml/2006/main">
            <a:off x="1280160" y="3118104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內部系統整合</a:t>
            </a:r>
          </a:p>
        </p:txBody>
      </p:sp>
      <p:sp>
        <p:nvSpPr>
          <p:cNvPr id="100132" name="TextBox 10"/>
          <p:cNvSpPr txBox="1"/>
          <p:nvPr/>
        </p:nvSpPr>
        <p:spPr>
          <a:xfrm xmlns:a="http://schemas.openxmlformats.org/drawingml/2006/main">
            <a:off x="1280160" y="3438144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許多老舊的內部後台系統沒有API，只能靠瀏覽器自動化擷取資料，比自建/自維護Chromium爬蟲主機更省事、更省錢</a:t>
            </a:r>
          </a:p>
        </p:txBody>
      </p:sp>
      <p:sp>
        <p:nvSpPr>
          <p:cNvPr id="100133" name="TextBox 11"/>
          <p:cNvSpPr/>
          <p:nvPr/>
        </p:nvSpPr>
        <p:spPr>
          <a:xfrm xmlns:a="http://schemas.openxmlformats.org/drawingml/2006/main">
            <a:off x="640080" y="4197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3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f919bde3643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43159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35" name="TextBox 12"/>
          <p:cNvSpPr txBox="1"/>
          <p:nvPr/>
        </p:nvSpPr>
        <p:spPr>
          <a:xfrm xmlns:a="http://schemas.openxmlformats.org/drawingml/2006/main">
            <a:off x="1280160" y="4105656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跨平台資料比對</a:t>
            </a:r>
          </a:p>
        </p:txBody>
      </p:sp>
      <p:sp>
        <p:nvSpPr>
          <p:cNvPr id="100136" name="TextBox 13"/>
          <p:cNvSpPr txBox="1"/>
          <p:nvPr/>
        </p:nvSpPr>
        <p:spPr>
          <a:xfrm xmlns:a="http://schemas.openxmlformats.org/drawingml/2006/main">
            <a:off x="1280160" y="4425696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多平台上架需要人工比對各平台後台數據時，也是類似的高頻爬取場景</a:t>
            </a:r>
          </a:p>
        </p:txBody>
      </p:sp>
      <p:sp>
        <p:nvSpPr>
          <p:cNvPr id="100137" name="TextBox 14"/>
          <p:cNvSpPr/>
          <p:nvPr/>
        </p:nvSpPr>
        <p:spPr>
          <a:xfrm xmlns:a="http://schemas.openxmlformats.org/drawingml/2006/main">
            <a:off x="640080" y="5184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6D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791273c6e474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530352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39" name="TextBox 15"/>
          <p:cNvSpPr txBox="1"/>
          <p:nvPr/>
        </p:nvSpPr>
        <p:spPr>
          <a:xfrm xmlns:a="http://schemas.openxmlformats.org/drawingml/2006/main">
            <a:off x="1280160" y="5093208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這次14篇裡風險基礎盤最低的項目</a:t>
            </a:r>
          </a:p>
        </p:txBody>
      </p:sp>
      <p:sp>
        <p:nvSpPr>
          <p:cNvPr id="100140" name="TextBox 16"/>
          <p:cNvSpPr txBox="1"/>
          <p:nvPr/>
        </p:nvSpPr>
        <p:spPr>
          <a:xfrm xmlns:a="http://schemas.openxmlformats.org/drawingml/2006/main">
            <a:off x="1280160" y="5413248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Kitesurf是Cloudflare官方產品，我們是呼叫別人維運好的服務，而非自己裝一個來路不明的binary</a:t>
            </a:r>
          </a:p>
        </p:txBody>
      </p:sp>
      <p:sp>
        <p:nvSpPr>
          <p:cNvPr id="100141" name="TextBox 1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案例二：Cloudflare Kitesurf</a:t>
            </a:r>
          </a:p>
        </p:txBody>
      </p:sp>
      <p:sp>
        <p:nvSpPr>
          <p:cNvPr id="100142" name="TextBox 1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143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4" name="TextBox 2"/>
          <p:cNvSpPr txBox="1"/>
          <p:nvPr/>
        </p:nvSpPr>
        <p:spPr>
          <a:xfrm xmlns:a="http://schemas.openxmlformats.org/drawingml/2006/main">
            <a:off x="868680" y="640080"/>
            <a:ext cx="9144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案例二｜建議下一步</a:t>
            </a:r>
          </a:p>
        </p:txBody>
      </p:sp>
      <p:sp>
        <p:nvSpPr>
          <p:cNvPr id="100145" name="TextBox 3"/>
          <p:cNvSpPr/>
          <p:nvPr/>
        </p:nvSpPr>
        <p:spPr>
          <a:xfrm xmlns:a="http://schemas.openxmlformats.org/drawingml/2006/main">
            <a:off x="868680" y="1737360"/>
            <a:ext cx="102412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52"/>
          </a:solidFill>
          <a:ln xmlns:a="http://schemas.openxmlformats.org/drawingml/2006/main">
            <a:solidFill>
              <a:srgbClr val="3142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6" name="TextBox 4"/>
          <p:cNvSpPr/>
          <p:nvPr/>
        </p:nvSpPr>
        <p:spPr>
          <a:xfrm xmlns:a="http://schemas.openxmlformats.org/drawingml/2006/main">
            <a:off x="1234440" y="214884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20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8d128feb2498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63040" y="2377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00148" name="TextBox 5"/>
          <p:cNvSpPr txBox="1"/>
          <p:nvPr/>
        </p:nvSpPr>
        <p:spPr>
          <a:xfrm xmlns:a="http://schemas.openxmlformats.org/drawingml/2006/main">
            <a:off x="2286000" y="2194560"/>
            <a:ext cx="82296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指派1名工程師試點評估</a:t>
            </a:r>
          </a:p>
        </p:txBody>
      </p:sp>
      <p:sp>
        <p:nvSpPr>
          <p:cNvPr id="100149" name="TextBox 6"/>
          <p:cNvSpPr txBox="1"/>
          <p:nvPr/>
        </p:nvSpPr>
        <p:spPr>
          <a:xfrm xmlns:a="http://schemas.openxmlformats.org/drawingml/2006/main">
            <a:off x="2286000" y="2834640"/>
            <a:ext cx="8412480" cy="2011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將現有 Playwright 驅動的網頁爬取任務（若有）小範圍改接 Kitesurf 測試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評估相容性與資源節省幅度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試算換算成本差異，作為是否擴大採用的依據</a:t>
            </a:r>
          </a:p>
        </p:txBody>
      </p:sp>
      <p:sp>
        <p:nvSpPr>
          <p:cNvPr id="100150" name="TextBox 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案例二：Cloudflare Kitesurf</a:t>
            </a:r>
          </a:p>
        </p:txBody>
      </p:sp>
      <p:sp>
        <p:nvSpPr>
          <p:cNvPr id="100151" name="TextBox 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152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3" name="TextBox 2"/>
          <p:cNvSpPr txBox="1"/>
          <p:nvPr/>
        </p:nvSpPr>
        <p:spPr>
          <a:xfrm xmlns:a="http://schemas.openxmlformats.org/drawingml/2006/main">
            <a:off x="868680" y="1417320"/>
            <a:ext cx="27432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8000" b="1" i="0">
                <a:solidFill>
                  <a:srgbClr val="2B3A5C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100154" name="TextBox 3"/>
          <p:cNvSpPr/>
          <p:nvPr/>
        </p:nvSpPr>
        <p:spPr>
          <a:xfrm xmlns:a="http://schemas.openxmlformats.org/drawingml/2006/main">
            <a:off x="914400" y="30632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5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c27126384f5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3856" y="3282696"/>
            <a:ext cx="429768" cy="429768"/>
          </a:xfrm>
          <a:prstGeom xmlns:a="http://schemas.openxmlformats.org/drawingml/2006/main" prst="rect">
            <a:avLst/>
          </a:prstGeom>
        </p:spPr>
      </p:pic>
      <p:sp>
        <p:nvSpPr>
          <p:cNvPr id="100156" name="TextBox 4"/>
          <p:cNvSpPr txBox="1"/>
          <p:nvPr/>
        </p:nvSpPr>
        <p:spPr>
          <a:xfrm xmlns:a="http://schemas.openxmlformats.org/drawingml/2006/main">
            <a:off x="2011680" y="3127248"/>
            <a:ext cx="896112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800" b="1" i="0">
                <a:solidFill>
                  <a:srgbClr val="FFFFFF"/>
                </a:solidFill>
                <a:latin typeface="Microsoft JhengHei"/>
                <a:ea typeface="Microsoft JhengHei"/>
              </a:rPr>
              <a:t>OfficeCLI</a:t>
            </a:r>
          </a:p>
        </p:txBody>
      </p:sp>
      <p:sp>
        <p:nvSpPr>
          <p:cNvPr id="100157" name="TextBox 5"/>
          <p:cNvSpPr txBox="1"/>
          <p:nvPr/>
        </p:nvSpPr>
        <p:spPr>
          <a:xfrm xmlns:a="http://schemas.openxmlformats.org/drawingml/2006/main">
            <a:off x="2011680" y="3703320"/>
            <a:ext cx="87782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0" i="0">
                <a:solidFill>
                  <a:srgbClr val="9FB0D0"/>
                </a:solidFill>
                <a:latin typeface="Microsoft JhengHei"/>
                <a:ea typeface="Microsoft JhengHei"/>
              </a:rPr>
              <a:t>工具能力｜企劃／運營適用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158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9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案例三｜是什麼</a:t>
            </a:r>
          </a:p>
        </p:txBody>
      </p:sp>
      <p:sp>
        <p:nvSpPr>
          <p:cNvPr id="100160" name="TextBox 3"/>
          <p:cNvSpPr txBox="1"/>
          <p:nvPr/>
        </p:nvSpPr>
        <p:spPr>
          <a:xfrm xmlns:a="http://schemas.openxmlformats.org/drawingml/2006/main">
            <a:off x="640080" y="1234440"/>
            <a:ext cx="1088136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開源工具，讓 Claude Code／Cursor 等AI agent直接讀寫 Word／Excel／PowerPoint，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不需安裝微軟Office，單一執行檔即可運作。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50" b="0" i="0">
                <a:solidFill>
                  <a:srgbClr val="27324A"/>
                </a:solidFill>
                <a:latin typeface="Microsoft JhengHei"/>
                <a:ea typeface="Microsoft JhengHei"/>
              </a:rPr>
              <a:t>內建 HTML／PNG 高還原度渲染引擎，可將文件轉為圖片預覽。</a:t>
            </a:r>
          </a:p>
        </p:txBody>
      </p:sp>
      <p:sp>
        <p:nvSpPr>
          <p:cNvPr id="100161" name="TextBox 4"/>
          <p:cNvSpPr/>
          <p:nvPr/>
        </p:nvSpPr>
        <p:spPr>
          <a:xfrm xmlns:a="http://schemas.openxmlformats.org/drawingml/2006/main">
            <a:off x="640080" y="2743200"/>
            <a:ext cx="521208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solidFill>
              <a:srgbClr val="BEDCD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2" name="TextBox 5"/>
          <p:cNvSpPr txBox="1"/>
          <p:nvPr/>
        </p:nvSpPr>
        <p:spPr>
          <a:xfrm xmlns:a="http://schemas.openxmlformats.org/drawingml/2006/main">
            <a:off x="640080" y="2926080"/>
            <a:ext cx="521208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2600" b="1" i="0">
                <a:solidFill>
                  <a:srgbClr val="1F7A63"/>
                </a:solidFill>
                <a:latin typeface="Microsoft JhengHei"/>
                <a:ea typeface="Microsoft JhengHei"/>
              </a:rPr>
              <a:t>1.3萬 → 2.7萬星</a:t>
            </a:r>
          </a:p>
        </p:txBody>
      </p:sp>
      <p:sp>
        <p:nvSpPr>
          <p:cNvPr id="100163" name="TextBox 6"/>
          <p:cNvSpPr txBox="1"/>
          <p:nvPr/>
        </p:nvSpPr>
        <p:spPr>
          <a:xfrm xmlns:a="http://schemas.openxmlformats.org/drawingml/2006/main">
            <a:off x="640080" y="3657600"/>
            <a:ext cx="521208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50" b="0" i="0">
                <a:solidFill>
                  <a:srgbClr val="27324A"/>
                </a:solidFill>
                <a:latin typeface="Microsoft JhengHei"/>
                <a:ea typeface="Microsoft JhengHei"/>
              </a:rPr>
              <a:t>短短數週內的星數成長幅度</a:t>
            </a:r>
          </a:p>
        </p:txBody>
      </p:sp>
      <p:sp>
        <p:nvSpPr>
          <p:cNvPr id="100164" name="TextBox 7"/>
          <p:cNvSpPr/>
          <p:nvPr/>
        </p:nvSpPr>
        <p:spPr>
          <a:xfrm xmlns:a="http://schemas.openxmlformats.org/drawingml/2006/main">
            <a:off x="6080760" y="2743200"/>
            <a:ext cx="544068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solidFill>
              <a:srgbClr val="BEDCD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5" name="TextBox 8"/>
          <p:cNvSpPr txBox="1"/>
          <p:nvPr/>
        </p:nvSpPr>
        <p:spPr>
          <a:xfrm xmlns:a="http://schemas.openxmlformats.org/drawingml/2006/main">
            <a:off x="6080760" y="2926080"/>
            <a:ext cx="544068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2600" b="1" i="0">
                <a:solidFill>
                  <a:srgbClr val="1F7A63"/>
                </a:solidFill>
                <a:latin typeface="Microsoft JhengHei"/>
                <a:ea typeface="Microsoft JhengHei"/>
              </a:rPr>
              <a:t>零安裝Office</a:t>
            </a:r>
          </a:p>
        </p:txBody>
      </p:sp>
      <p:sp>
        <p:nvSpPr>
          <p:cNvPr id="100166" name="TextBox 9"/>
          <p:cNvSpPr txBox="1"/>
          <p:nvPr/>
        </p:nvSpPr>
        <p:spPr>
          <a:xfrm xmlns:a="http://schemas.openxmlformats.org/drawingml/2006/main">
            <a:off x="6080760" y="3657600"/>
            <a:ext cx="544068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/>
            <a:r>
              <a:rPr lang="en-US" sz="1150" b="0" i="0">
                <a:solidFill>
                  <a:srgbClr val="27324A"/>
                </a:solidFill>
                <a:latin typeface="Microsoft JhengHei"/>
                <a:ea typeface="Microsoft JhengHei"/>
              </a:rPr>
              <a:t>單一執行檔，不需微軟Office授權</a:t>
            </a:r>
          </a:p>
        </p:txBody>
      </p:sp>
      <p:sp>
        <p:nvSpPr>
          <p:cNvPr id="100167" name="TextBox 10"/>
          <p:cNvSpPr/>
          <p:nvPr/>
        </p:nvSpPr>
        <p:spPr>
          <a:xfrm xmlns:a="http://schemas.openxmlformats.org/drawingml/2006/main">
            <a:off x="640080" y="4663440"/>
            <a:ext cx="108813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F"/>
          </a:solidFill>
          <a:ln xmlns:a="http://schemas.openxmlformats.org/drawingml/2006/main">
            <a:solidFill>
              <a:srgbClr val="EEE0B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8" name="TextBox 11"/>
          <p:cNvSpPr txBox="1"/>
          <p:nvPr/>
        </p:nvSpPr>
        <p:spPr>
          <a:xfrm xmlns:a="http://schemas.openxmlformats.org/drawingml/2006/main">
            <a:off x="914400" y="4846320"/>
            <a:ext cx="1033272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工具會自動偵測使用者裝有哪些AI coding工具，並自動安裝對應的skill設定檔——這點正是資安評估要留意的地方（見下頁）。</a:t>
            </a:r>
          </a:p>
        </p:txBody>
      </p:sp>
      <p:sp>
        <p:nvSpPr>
          <p:cNvPr id="100169" name="TextBox 12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案例三：OfficeCLI</a:t>
            </a:r>
          </a:p>
        </p:txBody>
      </p:sp>
      <p:sp>
        <p:nvSpPr>
          <p:cNvPr id="100170" name="TextBox 13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171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2" name="TextBox 2"/>
          <p:cNvSpPr txBox="1"/>
          <p:nvPr/>
        </p:nvSpPr>
        <p:spPr>
          <a:xfrm xmlns:a="http://schemas.openxmlformats.org/drawingml/2006/main">
            <a:off x="64008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案例三｜為什麼跟我們有關</a:t>
            </a:r>
          </a:p>
        </p:txBody>
      </p:sp>
      <p:sp>
        <p:nvSpPr>
          <p:cNvPr id="100173" name="TextBox 3"/>
          <p:cNvSpPr/>
          <p:nvPr/>
        </p:nvSpPr>
        <p:spPr>
          <a:xfrm xmlns:a="http://schemas.openxmlformats.org/drawingml/2006/main">
            <a:off x="640080" y="1188720"/>
            <a:ext cx="1088136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TextBox 4"/>
          <p:cNvSpPr txBox="1"/>
          <p:nvPr/>
        </p:nvSpPr>
        <p:spPr>
          <a:xfrm xmlns:a="http://schemas.openxmlformats.org/drawingml/2006/main">
            <a:off x="868680" y="1280160"/>
            <a:ext cx="10424160" cy="6217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0" i="1">
                <a:solidFill>
                  <a:srgbClr val="FFFFFF"/>
                </a:solidFill>
                <a:latin typeface="Microsoft JhengHei"/>
                <a:ea typeface="Microsoft JhengHei"/>
              </a:rPr>
              <a:t>這是三篇裡唯一直接對非工程背景同仁有感的項目——企劃室與運營團隊的日常產出幾乎清一色是Word/Excel/PowerPoint格式。</a:t>
            </a:r>
          </a:p>
        </p:txBody>
      </p:sp>
      <p:sp>
        <p:nvSpPr>
          <p:cNvPr id="100175" name="TextBox 5"/>
          <p:cNvSpPr/>
          <p:nvPr/>
        </p:nvSpPr>
        <p:spPr>
          <a:xfrm xmlns:a="http://schemas.openxmlformats.org/drawingml/2006/main">
            <a:off x="640080" y="22219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7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32307cf41496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234086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77" name="TextBox 6"/>
          <p:cNvSpPr txBox="1"/>
          <p:nvPr/>
        </p:nvSpPr>
        <p:spPr>
          <a:xfrm xmlns:a="http://schemas.openxmlformats.org/drawingml/2006/main">
            <a:off x="1280160" y="2130552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固定產出的營運數據報表</a:t>
            </a:r>
          </a:p>
        </p:txBody>
      </p:sp>
      <p:sp>
        <p:nvSpPr>
          <p:cNvPr id="100178" name="TextBox 7"/>
          <p:cNvSpPr txBox="1"/>
          <p:nvPr/>
        </p:nvSpPr>
        <p:spPr>
          <a:xfrm xmlns:a="http://schemas.openxmlformats.org/drawingml/2006/main">
            <a:off x="1280160" y="2450592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每週/每月的Excel報表，目前若靠人工整理查詢結果、套公式、上圖表，是最適合先試點的高重複性、低創意含量工作</a:t>
            </a:r>
          </a:p>
        </p:txBody>
      </p:sp>
      <p:sp>
        <p:nvSpPr>
          <p:cNvPr id="100179" name="TextBox 8"/>
          <p:cNvSpPr/>
          <p:nvPr/>
        </p:nvSpPr>
        <p:spPr>
          <a:xfrm xmlns:a="http://schemas.openxmlformats.org/drawingml/2006/main">
            <a:off x="640080" y="32095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e319d7d9f46c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33284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81" name="TextBox 9"/>
          <p:cNvSpPr txBox="1"/>
          <p:nvPr/>
        </p:nvSpPr>
        <p:spPr>
          <a:xfrm xmlns:a="http://schemas.openxmlformats.org/drawingml/2006/main">
            <a:off x="1280160" y="3118104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活動提案／企劃書初稿</a:t>
            </a:r>
          </a:p>
        </p:txBody>
      </p:sp>
      <p:sp>
        <p:nvSpPr>
          <p:cNvPr id="100182" name="TextBox 10"/>
          <p:cNvSpPr txBox="1"/>
          <p:nvPr/>
        </p:nvSpPr>
        <p:spPr>
          <a:xfrm xmlns:a="http://schemas.openxmlformats.org/drawingml/2006/main">
            <a:off x="1280160" y="3438144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企劃同仁可讓AI直接依既有範本產出完整PPT初稿，專注在內容邏輯與創意調整，而非從空白頁面開始排版</a:t>
            </a:r>
          </a:p>
        </p:txBody>
      </p:sp>
      <p:sp>
        <p:nvSpPr>
          <p:cNvPr id="100183" name="TextBox 11"/>
          <p:cNvSpPr/>
          <p:nvPr/>
        </p:nvSpPr>
        <p:spPr>
          <a:xfrm xmlns:a="http://schemas.openxmlformats.org/drawingml/2006/main">
            <a:off x="640080" y="41970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8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5f1a46cc64d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431596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85" name="TextBox 12"/>
          <p:cNvSpPr txBox="1"/>
          <p:nvPr/>
        </p:nvSpPr>
        <p:spPr>
          <a:xfrm xmlns:a="http://schemas.openxmlformats.org/drawingml/2006/main">
            <a:off x="1280160" y="4105656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對外簡報的版本迭代</a:t>
            </a:r>
          </a:p>
        </p:txBody>
      </p:sp>
      <p:sp>
        <p:nvSpPr>
          <p:cNvPr id="100186" name="TextBox 13"/>
          <p:cNvSpPr txBox="1"/>
          <p:nvPr/>
        </p:nvSpPr>
        <p:spPr>
          <a:xfrm xmlns:a="http://schemas.openxmlformats.org/drawingml/2006/main">
            <a:off x="1280160" y="4425696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反覆修改簡報時，讓AI agent直接改PPT檔案本身，而非重新產出文字再手動貼，能縮短來回修改的周轉時間</a:t>
            </a:r>
          </a:p>
        </p:txBody>
      </p:sp>
      <p:sp>
        <p:nvSpPr>
          <p:cNvPr id="100187" name="TextBox 14"/>
          <p:cNvSpPr/>
          <p:nvPr/>
        </p:nvSpPr>
        <p:spPr>
          <a:xfrm xmlns:a="http://schemas.openxmlformats.org/drawingml/2006/main">
            <a:off x="640080" y="5184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8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317caa125485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58952" y="530352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00189" name="TextBox 15"/>
          <p:cNvSpPr txBox="1"/>
          <p:nvPr/>
        </p:nvSpPr>
        <p:spPr>
          <a:xfrm xmlns:a="http://schemas.openxmlformats.org/drawingml/2006/main">
            <a:off x="1280160" y="5093208"/>
            <a:ext cx="101498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1" i="0">
                <a:solidFill>
                  <a:srgbClr val="27324A"/>
                </a:solidFill>
                <a:latin typeface="Microsoft JhengHei"/>
                <a:ea typeface="Microsoft JhengHei"/>
              </a:rPr>
              <a:t>AI工具普及到非工程團隊的具體案例</a:t>
            </a:r>
          </a:p>
        </p:txBody>
      </p:sp>
      <p:sp>
        <p:nvSpPr>
          <p:cNvPr id="100190" name="TextBox 16"/>
          <p:cNvSpPr txBox="1"/>
          <p:nvPr/>
        </p:nvSpPr>
        <p:spPr>
          <a:xfrm xmlns:a="http://schemas.openxmlformats.org/drawingml/2006/main">
            <a:off x="1280160" y="5413248"/>
            <a:ext cx="101498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企劃/運營同仁未來有機會不透過工程team、直接自己操作AI coding agent處理文件工作</a:t>
            </a:r>
          </a:p>
        </p:txBody>
      </p:sp>
      <p:sp>
        <p:nvSpPr>
          <p:cNvPr id="100191" name="TextBox 1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案例三：OfficeCLI</a:t>
            </a:r>
          </a:p>
        </p:txBody>
      </p:sp>
      <p:sp>
        <p:nvSpPr>
          <p:cNvPr id="100192" name="TextBox 1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193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9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bdb419b7648e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292608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00195" name="TextBox 2"/>
          <p:cNvSpPr txBox="1"/>
          <p:nvPr/>
        </p:nvSpPr>
        <p:spPr>
          <a:xfrm xmlns:a="http://schemas.openxmlformats.org/drawingml/2006/main">
            <a:off x="1188720" y="201168"/>
            <a:ext cx="9144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案例三｜資安提醒（重要）</a:t>
            </a:r>
          </a:p>
        </p:txBody>
      </p:sp>
      <p:sp>
        <p:nvSpPr>
          <p:cNvPr id="100196" name="TextBox 3"/>
          <p:cNvSpPr/>
          <p:nvPr/>
        </p:nvSpPr>
        <p:spPr>
          <a:xfrm xmlns:a="http://schemas.openxmlformats.org/drawingml/2006/main">
            <a:off x="640080" y="1280160"/>
            <a:ext cx="525780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7" name="TextBox 4"/>
          <p:cNvSpPr/>
          <p:nvPr/>
        </p:nvSpPr>
        <p:spPr>
          <a:xfrm xmlns:a="http://schemas.openxmlformats.org/drawingml/2006/main">
            <a:off x="914400" y="1554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19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b78210297414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" y="1691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199" name="TextBox 5"/>
          <p:cNvSpPr txBox="1"/>
          <p:nvPr/>
        </p:nvSpPr>
        <p:spPr>
          <a:xfrm xmlns:a="http://schemas.openxmlformats.org/drawingml/2006/main">
            <a:off x="1600200" y="1600200"/>
            <a:ext cx="4114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查證通過的部分</a:t>
            </a:r>
          </a:p>
        </p:txBody>
      </p:sp>
      <p:sp>
        <p:nvSpPr>
          <p:cNvPr id="100200" name="TextBox 6"/>
          <p:cNvSpPr txBox="1"/>
          <p:nvPr/>
        </p:nvSpPr>
        <p:spPr>
          <a:xfrm xmlns:a="http://schemas.openxmlformats.org/drawingml/2006/main">
            <a:off x="914400" y="2331720"/>
            <a:ext cx="4754880" cy="1737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原始碼可稽核，非黑箱二進位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無遙測外傳，未發現資料外洩程式碼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本機預覽伺服器僅綁定127.0.0.1，不對外開放</a:t>
            </a:r>
          </a:p>
        </p:txBody>
      </p:sp>
      <p:sp>
        <p:nvSpPr>
          <p:cNvPr id="100201" name="TextBox 7"/>
          <p:cNvSpPr/>
          <p:nvPr/>
        </p:nvSpPr>
        <p:spPr>
          <a:xfrm xmlns:a="http://schemas.openxmlformats.org/drawingml/2006/main">
            <a:off x="6172200" y="1280160"/>
            <a:ext cx="53492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EDC"/>
          </a:solidFill>
          <a:ln xmlns:a="http://schemas.openxmlformats.org/drawingml/2006/main">
            <a:solidFill>
              <a:srgbClr val="EAC2B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2" name="TextBox 8"/>
          <p:cNvSpPr/>
          <p:nvPr/>
        </p:nvSpPr>
        <p:spPr>
          <a:xfrm xmlns:a="http://schemas.openxmlformats.org/drawingml/2006/main">
            <a:off x="6446520" y="1554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0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8bb4d7f554f7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583680" y="1691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204" name="TextBox 9"/>
          <p:cNvSpPr txBox="1"/>
          <p:nvPr/>
        </p:nvSpPr>
        <p:spPr>
          <a:xfrm xmlns:a="http://schemas.openxmlformats.org/drawingml/2006/main">
            <a:off x="7132320" y="1600200"/>
            <a:ext cx="4114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需要注意的風險</a:t>
            </a:r>
          </a:p>
        </p:txBody>
      </p:sp>
      <p:sp>
        <p:nvSpPr>
          <p:cNvPr id="100205" name="TextBox 10"/>
          <p:cNvSpPr txBox="1"/>
          <p:nvPr/>
        </p:nvSpPr>
        <p:spPr>
          <a:xfrm xmlns:a="http://schemas.openxmlformats.org/drawingml/2006/main">
            <a:off x="6446520" y="2331720"/>
            <a:ext cx="4846320" cy="1737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安裝腳本會自動寫入AI工具的skill目錄，不會詢問使用者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自動更新預設開啟，會自我替換執行檔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27324A"/>
                </a:solidFill>
                <a:latin typeface="Microsoft JhengHei"/>
                <a:ea typeface="Microsoft JhengHei"/>
              </a:rPr>
              <a:t>Windows執行檔未經數位簽章</a:t>
            </a:r>
          </a:p>
        </p:txBody>
      </p:sp>
      <p:sp>
        <p:nvSpPr>
          <p:cNvPr id="100206" name="TextBox 11"/>
          <p:cNvSpPr/>
          <p:nvPr/>
        </p:nvSpPr>
        <p:spPr>
          <a:xfrm xmlns:a="http://schemas.openxmlformats.org/drawingml/2006/main">
            <a:off x="640080" y="4434840"/>
            <a:ext cx="108813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0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8a1a168e9493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14400" y="47548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0208" name="TextBox 12"/>
          <p:cNvSpPr txBox="1"/>
          <p:nvPr/>
        </p:nvSpPr>
        <p:spPr>
          <a:xfrm xmlns:a="http://schemas.openxmlformats.org/drawingml/2006/main">
            <a:off x="1554480" y="4663440"/>
            <a:ext cx="9692640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50" b="0" i="0">
                <a:solidFill>
                  <a:srgbClr val="FFFFFF"/>
                </a:solidFill>
                <a:latin typeface="Microsoft JhengHei"/>
                <a:ea typeface="Microsoft JhengHei"/>
              </a:rPr>
              <a:t>建議做法：</a:t>
            </a:r>
          </a:p>
          <a:p xmlns:a="http://schemas.openxmlformats.org/drawingml/2006/main">
            <a:pPr algn="l"/>
            <a:r>
              <a:rPr lang="en-US" sz="1250" b="0" i="0">
                <a:solidFill>
                  <a:srgbClr val="FFFFFF"/>
                </a:solidFill>
                <a:latin typeface="Microsoft JhengHei"/>
                <a:ea typeface="Microsoft JhengHei"/>
              </a:rPr>
              <a:t>不要用官網一行安裝指令，改手動下載＋驗證雜湊；裝完先關閉自動更新，並在受控沙盒環境進行PoC</a:t>
            </a:r>
          </a:p>
        </p:txBody>
      </p:sp>
      <p:sp>
        <p:nvSpPr>
          <p:cNvPr id="100209" name="TextBox 13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案例三：OfficeCLI</a:t>
            </a:r>
          </a:p>
        </p:txBody>
      </p:sp>
      <p:sp>
        <p:nvSpPr>
          <p:cNvPr id="100210" name="TextBox 14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211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2" name="TextBox 2"/>
          <p:cNvSpPr txBox="1"/>
          <p:nvPr/>
        </p:nvSpPr>
        <p:spPr>
          <a:xfrm xmlns:a="http://schemas.openxmlformats.org/drawingml/2006/main">
            <a:off x="868680" y="640080"/>
            <a:ext cx="9144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案例三｜建議下一步</a:t>
            </a:r>
          </a:p>
        </p:txBody>
      </p:sp>
      <p:sp>
        <p:nvSpPr>
          <p:cNvPr id="100213" name="TextBox 3"/>
          <p:cNvSpPr/>
          <p:nvPr/>
        </p:nvSpPr>
        <p:spPr>
          <a:xfrm xmlns:a="http://schemas.openxmlformats.org/drawingml/2006/main">
            <a:off x="868680" y="1737360"/>
            <a:ext cx="102412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52"/>
          </a:solidFill>
          <a:ln xmlns:a="http://schemas.openxmlformats.org/drawingml/2006/main">
            <a:solidFill>
              <a:srgbClr val="3142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TextBox 4"/>
          <p:cNvSpPr/>
          <p:nvPr/>
        </p:nvSpPr>
        <p:spPr>
          <a:xfrm xmlns:a="http://schemas.openxmlformats.org/drawingml/2006/main">
            <a:off x="1234440" y="214884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6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d58b2947946b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63040" y="2377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00216" name="TextBox 5"/>
          <p:cNvSpPr txBox="1"/>
          <p:nvPr/>
        </p:nvSpPr>
        <p:spPr>
          <a:xfrm xmlns:a="http://schemas.openxmlformats.org/drawingml/2006/main">
            <a:off x="2286000" y="2194560"/>
            <a:ext cx="82296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企劃室指派1名同仁試裝評估</a:t>
            </a:r>
          </a:p>
        </p:txBody>
      </p:sp>
      <p:sp>
        <p:nvSpPr>
          <p:cNvPr id="100217" name="TextBox 6"/>
          <p:cNvSpPr txBox="1"/>
          <p:nvPr/>
        </p:nvSpPr>
        <p:spPr>
          <a:xfrm xmlns:a="http://schemas.openxmlformats.org/drawingml/2006/main">
            <a:off x="2286000" y="2834640"/>
            <a:ext cx="8412480" cy="2011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在受控環境（依前頁資安建議）試裝OfficeCLI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挑一項重複性高的文件工作做PoC（如週報彙整或活動提案初稿）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評估產出品質與實際省下的工時，再決定是否推廣為企劃室常用工具</a:t>
            </a:r>
          </a:p>
        </p:txBody>
      </p:sp>
      <p:sp>
        <p:nvSpPr>
          <p:cNvPr id="100218" name="TextBox 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案例三：OfficeCLI</a:t>
            </a:r>
          </a:p>
        </p:txBody>
      </p:sp>
      <p:sp>
        <p:nvSpPr>
          <p:cNvPr id="100219" name="TextBox 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220" name="TextBox 1"/>
          <p:cNvSpPr/>
          <p:nvPr/>
        </p:nvSpPr>
        <p:spPr>
          <a:xfrm xmlns:a="http://schemas.openxmlformats.org/drawingml/2006/main">
            <a:off x="0" y="0"/>
            <a:ext cx="1216152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1" name="TextBox 2"/>
          <p:cNvSpPr txBox="1"/>
          <p:nvPr/>
        </p:nvSpPr>
        <p:spPr>
          <a:xfrm xmlns:a="http://schemas.openxmlformats.org/drawingml/2006/main">
            <a:off x="640080" y="365760"/>
            <a:ext cx="9144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總結｜三項目一覽</a:t>
            </a:r>
          </a:p>
        </p:txBody>
      </p:sp>
      <p:graphicFrame>
        <p:nvGraphicFramePr>
          <p:cNvPr id="100222" name="Table 1"/>
          <p:cNvGraphicFramePr/>
          <p:nvPr/>
        </p:nvGraphicFramePr>
        <p:xfrm>
          <a:off xmlns:a="http://schemas.openxmlformats.org/drawingml/2006/main" x="640080" y="1234440"/>
          <a:ext xmlns:a="http://schemas.openxmlformats.org/drawingml/2006/main" cx="10881360" cy="23774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60320"/>
                <a:gridCol w="4023360"/>
                <a:gridCol w="2103120"/>
                <a:gridCol w="21945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案例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核心價值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風險等級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建議負責團隊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Discord治理案例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避免AI審核踩雷的具體檢查清單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無（純案例）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運營／客服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Cloudflare Kitesurf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AI爬網頁成本降至1/3～1/7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低（官方產品）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程式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en-US" sz="11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OfficeCLI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AI直接產出/更新Office文件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中（安裝流程需管控）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0">
                          <a:solidFill>
                            <a:srgbClr val="CADCFC"/>
                          </a:solidFill>
                          <a:latin typeface="Microsoft JhengHei"/>
                          <a:ea typeface="Microsoft JhengHei"/>
                        </a:rPr>
                        <a:t>企劃室</a:t>
                      </a:r>
                    </a:p>
                  </a:txBody>
                  <a:tcPr>
                    <a:solidFill>
                      <a:srgbClr val="1E2E52"/>
                    </a:solidFill>
                  </a:tcPr>
                </a:tc>
              </a:tr>
            </a:tbl>
          </a:graphicData>
        </a:graphic>
      </p:graphicFrame>
      <p:sp>
        <p:nvSpPr>
          <p:cNvPr id="100223" name="TextBox 3"/>
          <p:cNvSpPr/>
          <p:nvPr/>
        </p:nvSpPr>
        <p:spPr>
          <a:xfrm xmlns:a="http://schemas.openxmlformats.org/drawingml/2006/main">
            <a:off x="640080" y="3977640"/>
            <a:ext cx="1088136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52"/>
          </a:solidFill>
          <a:ln xmlns:a="http://schemas.openxmlformats.org/drawingml/2006/main">
            <a:solidFill>
              <a:srgbClr val="3142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3d21900d849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60120" y="42519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00225" name="TextBox 4"/>
          <p:cNvSpPr txBox="1"/>
          <p:nvPr/>
        </p:nvSpPr>
        <p:spPr>
          <a:xfrm xmlns:a="http://schemas.openxmlformats.org/drawingml/2006/main">
            <a:off x="1600200" y="4206240"/>
            <a:ext cx="8229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下一步時程建議</a:t>
            </a:r>
          </a:p>
        </p:txBody>
      </p:sp>
      <p:sp>
        <p:nvSpPr>
          <p:cNvPr id="100226" name="TextBox 5"/>
          <p:cNvSpPr txBox="1"/>
          <p:nvPr/>
        </p:nvSpPr>
        <p:spPr>
          <a:xfrm xmlns:a="http://schemas.openxmlformats.org/drawingml/2006/main">
            <a:off x="1600200" y="4709160"/>
            <a:ext cx="950976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CADCFC"/>
                </a:solidFill>
                <a:latin typeface="Microsoft JhengHei"/>
                <a:ea typeface="Microsoft JhengHei"/>
              </a:rPr>
              <a:t>2週內：三項PoC分別由對應團隊啟動並完成初步測試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200" b="0" i="0">
                <a:solidFill>
                  <a:srgbClr val="CADCFC"/>
                </a:solidFill>
                <a:latin typeface="Microsoft JhengHei"/>
                <a:ea typeface="Microsoft JhengHei"/>
              </a:rPr>
              <a:t>第3週：各團隊回報PoC結果（品質／效率／成本節省），決定是否擴大採用</a:t>
            </a:r>
          </a:p>
        </p:txBody>
      </p:sp>
      <p:sp>
        <p:nvSpPr>
          <p:cNvPr id="100227" name="TextBox 6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AI情報週報｜總結</a:t>
            </a:r>
          </a:p>
        </p:txBody>
      </p:sp>
      <p:sp>
        <p:nvSpPr>
          <p:cNvPr id="100228" name="TextBox 7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229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0" name="TextBox 2"/>
          <p:cNvSpPr txBox="1"/>
          <p:nvPr/>
        </p:nvSpPr>
        <p:spPr>
          <a:xfrm xmlns:a="http://schemas.openxmlformats.org/drawingml/2006/main">
            <a:off x="868680" y="1417320"/>
            <a:ext cx="27432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8000" b="1" i="0">
                <a:solidFill>
                  <a:srgbClr val="2B3A5C"/>
                </a:solidFill>
                <a:latin typeface="Microsoft JhengHei"/>
                <a:ea typeface="Microsoft JhengHei"/>
              </a:rPr>
              <a:t>+</a:t>
            </a:r>
          </a:p>
        </p:txBody>
      </p:sp>
      <p:sp>
        <p:nvSpPr>
          <p:cNvPr id="100231" name="TextBox 3"/>
          <p:cNvSpPr/>
          <p:nvPr/>
        </p:nvSpPr>
        <p:spPr>
          <a:xfrm xmlns:a="http://schemas.openxmlformats.org/drawingml/2006/main">
            <a:off x="914400" y="30632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89ad5c7ff4cb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33856" y="3282696"/>
            <a:ext cx="429768" cy="429768"/>
          </a:xfrm>
          <a:prstGeom xmlns:a="http://schemas.openxmlformats.org/drawingml/2006/main" prst="rect">
            <a:avLst/>
          </a:prstGeom>
        </p:spPr>
      </p:pic>
      <p:sp>
        <p:nvSpPr>
          <p:cNvPr id="100233" name="TextBox 4"/>
          <p:cNvSpPr txBox="1"/>
          <p:nvPr/>
        </p:nvSpPr>
        <p:spPr>
          <a:xfrm xmlns:a="http://schemas.openxmlformats.org/drawingml/2006/main">
            <a:off x="2011680" y="3127248"/>
            <a:ext cx="896112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800" b="1" i="0">
                <a:solidFill>
                  <a:srgbClr val="FFFFFF"/>
                </a:solidFill>
                <a:latin typeface="Microsoft JhengHei"/>
                <a:ea typeface="Microsoft JhengHei"/>
              </a:rPr>
              <a:t>附錄｜工具實測與比較</a:t>
            </a:r>
          </a:p>
        </p:txBody>
      </p:sp>
      <p:sp>
        <p:nvSpPr>
          <p:cNvPr id="100234" name="TextBox 5"/>
          <p:cNvSpPr txBox="1"/>
          <p:nvPr/>
        </p:nvSpPr>
        <p:spPr>
          <a:xfrm xmlns:a="http://schemas.openxmlformats.org/drawingml/2006/main">
            <a:off x="2011680" y="3703320"/>
            <a:ext cx="87782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0" i="0">
                <a:solidFill>
                  <a:srgbClr val="9FB0D0"/>
                </a:solidFill>
                <a:latin typeface="Microsoft JhengHei"/>
                <a:ea typeface="Microsoft JhengHei"/>
              </a:rPr>
              <a:t>用OfficeCLI本身重新產生這份簡報，並記錄過程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235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6" name="TextBox 2"/>
          <p:cNvSpPr txBox="1"/>
          <p:nvPr/>
        </p:nvSpPr>
        <p:spPr>
          <a:xfrm xmlns:a="http://schemas.openxmlformats.org/drawingml/2006/main">
            <a:off x="640080" y="201168"/>
            <a:ext cx="100584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附錄｜OfficeCLI 安裝與資安處理過程</a:t>
            </a:r>
          </a:p>
        </p:txBody>
      </p:sp>
      <p:sp>
        <p:nvSpPr>
          <p:cNvPr id="100237" name="TextBox 3"/>
          <p:cNvSpPr/>
          <p:nvPr/>
        </p:nvSpPr>
        <p:spPr>
          <a:xfrm xmlns:a="http://schemas.openxmlformats.org/drawingml/2006/main">
            <a:off x="640080" y="1280160"/>
            <a:ext cx="1088136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8" name="TextBox 4"/>
          <p:cNvSpPr/>
          <p:nvPr/>
        </p:nvSpPr>
        <p:spPr>
          <a:xfrm xmlns:a="http://schemas.openxmlformats.org/drawingml/2006/main">
            <a:off x="914400" y="151790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3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7fea0aecb404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" y="165506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240" name="TextBox 5"/>
          <p:cNvSpPr txBox="1"/>
          <p:nvPr/>
        </p:nvSpPr>
        <p:spPr>
          <a:xfrm xmlns:a="http://schemas.openxmlformats.org/drawingml/2006/main">
            <a:off x="1691640" y="1408176"/>
            <a:ext cx="9509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1. 手動下載，不用官網一行安裝指令</a:t>
            </a:r>
          </a:p>
        </p:txBody>
      </p:sp>
      <p:sp>
        <p:nvSpPr>
          <p:cNvPr id="100241" name="TextBox 6"/>
          <p:cNvSpPr txBox="1"/>
          <p:nvPr/>
        </p:nvSpPr>
        <p:spPr>
          <a:xfrm xmlns:a="http://schemas.openxmlformats.org/drawingml/2006/main">
            <a:off x="1691640" y="1792224"/>
            <a:ext cx="95097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從GitHub Releases下載 officecli-win-x64.exe 與 SHA256SUMS（v1.0.143）</a:t>
            </a:r>
          </a:p>
        </p:txBody>
      </p:sp>
      <p:sp>
        <p:nvSpPr>
          <p:cNvPr id="100242" name="TextBox 7"/>
          <p:cNvSpPr/>
          <p:nvPr/>
        </p:nvSpPr>
        <p:spPr>
          <a:xfrm xmlns:a="http://schemas.openxmlformats.org/drawingml/2006/main">
            <a:off x="640080" y="2450592"/>
            <a:ext cx="1088136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3" name="TextBox 8"/>
          <p:cNvSpPr/>
          <p:nvPr/>
        </p:nvSpPr>
        <p:spPr>
          <a:xfrm xmlns:a="http://schemas.openxmlformats.org/drawingml/2006/main">
            <a:off x="914400" y="2688336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9357c442b4e4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" y="282549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245" name="TextBox 9"/>
          <p:cNvSpPr txBox="1"/>
          <p:nvPr/>
        </p:nvSpPr>
        <p:spPr>
          <a:xfrm xmlns:a="http://schemas.openxmlformats.org/drawingml/2006/main">
            <a:off x="1691640" y="2578608"/>
            <a:ext cx="9509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2. 驗證雜湊，確認binary未被竄改</a:t>
            </a:r>
          </a:p>
        </p:txBody>
      </p:sp>
      <p:sp>
        <p:nvSpPr>
          <p:cNvPr id="100246" name="TextBox 10"/>
          <p:cNvSpPr txBox="1"/>
          <p:nvPr/>
        </p:nvSpPr>
        <p:spPr>
          <a:xfrm xmlns:a="http://schemas.openxmlformats.org/drawingml/2006/main">
            <a:off x="1691640" y="2962656"/>
            <a:ext cx="95097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比對 Get-FileHash 計算結果與官方 SHA256SUMS，完全相符才繼續</a:t>
            </a:r>
          </a:p>
        </p:txBody>
      </p:sp>
      <p:sp>
        <p:nvSpPr>
          <p:cNvPr id="100247" name="TextBox 11"/>
          <p:cNvSpPr/>
          <p:nvPr/>
        </p:nvSpPr>
        <p:spPr>
          <a:xfrm xmlns:a="http://schemas.openxmlformats.org/drawingml/2006/main">
            <a:off x="640080" y="3621024"/>
            <a:ext cx="1088136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8" name="TextBox 12"/>
          <p:cNvSpPr/>
          <p:nvPr/>
        </p:nvSpPr>
        <p:spPr>
          <a:xfrm xmlns:a="http://schemas.openxmlformats.org/drawingml/2006/main">
            <a:off x="914400" y="38587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4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1b4354d304e7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" y="399592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250" name="TextBox 13"/>
          <p:cNvSpPr txBox="1"/>
          <p:nvPr/>
        </p:nvSpPr>
        <p:spPr>
          <a:xfrm xmlns:a="http://schemas.openxmlformats.org/drawingml/2006/main">
            <a:off x="1691640" y="3749040"/>
            <a:ext cx="9509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3. 不執行install腳本</a:t>
            </a:r>
          </a:p>
        </p:txBody>
      </p:sp>
      <p:sp>
        <p:nvSpPr>
          <p:cNvPr id="100251" name="TextBox 14"/>
          <p:cNvSpPr txBox="1"/>
          <p:nvPr/>
        </p:nvSpPr>
        <p:spPr>
          <a:xfrm xmlns:a="http://schemas.openxmlformats.org/drawingml/2006/main">
            <a:off x="1691640" y="4133088"/>
            <a:ext cx="95097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避開自動寫入AI工具skill目錄、修改PATH環境變數等未經同意的行為</a:t>
            </a:r>
          </a:p>
        </p:txBody>
      </p:sp>
      <p:sp>
        <p:nvSpPr>
          <p:cNvPr id="100252" name="TextBox 15"/>
          <p:cNvSpPr/>
          <p:nvPr/>
        </p:nvSpPr>
        <p:spPr>
          <a:xfrm xmlns:a="http://schemas.openxmlformats.org/drawingml/2006/main">
            <a:off x="640080" y="4791456"/>
            <a:ext cx="1088136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3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3" name="TextBox 16"/>
          <p:cNvSpPr/>
          <p:nvPr/>
        </p:nvSpPr>
        <p:spPr>
          <a:xfrm xmlns:a="http://schemas.openxmlformats.org/drawingml/2006/main">
            <a:off x="914400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E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5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5d98d84184b7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51560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0255" name="TextBox 17"/>
          <p:cNvSpPr txBox="1"/>
          <p:nvPr/>
        </p:nvSpPr>
        <p:spPr>
          <a:xfrm xmlns:a="http://schemas.openxmlformats.org/drawingml/2006/main">
            <a:off x="1691640" y="4919472"/>
            <a:ext cx="9509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400" b="1" i="0">
                <a:solidFill>
                  <a:srgbClr val="27324A"/>
                </a:solidFill>
                <a:latin typeface="Microsoft JhengHei"/>
                <a:ea typeface="Microsoft JhengHei"/>
              </a:rPr>
              <a:t>4. 第一時間關閉自動更新</a:t>
            </a:r>
          </a:p>
        </p:txBody>
      </p:sp>
      <p:sp>
        <p:nvSpPr>
          <p:cNvPr id="100256" name="TextBox 18"/>
          <p:cNvSpPr txBox="1"/>
          <p:nvPr/>
        </p:nvSpPr>
        <p:spPr>
          <a:xfrm xmlns:a="http://schemas.openxmlformats.org/drawingml/2006/main">
            <a:off x="1691640" y="5303520"/>
            <a:ext cx="950976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150" b="0" i="0">
                <a:solidFill>
                  <a:srgbClr val="6B7A99"/>
                </a:solidFill>
                <a:latin typeface="Microsoft JhengHei"/>
                <a:ea typeface="Microsoft JhengHei"/>
              </a:rPr>
              <a:t>officecli config autoUpdate false ＋ 設定 OFFICECLI_SKIP_UPDATE=1</a:t>
            </a:r>
          </a:p>
        </p:txBody>
      </p:sp>
      <p:sp>
        <p:nvSpPr>
          <p:cNvPr id="100257" name="TextBox 19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附錄：安裝與資安處理過程</a:t>
            </a:r>
          </a:p>
        </p:txBody>
      </p:sp>
      <p:sp>
        <p:nvSpPr>
          <p:cNvPr id="100258" name="TextBox 20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259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0" name="TextBox 2"/>
          <p:cNvSpPr txBox="1"/>
          <p:nvPr/>
        </p:nvSpPr>
        <p:spPr>
          <a:xfrm xmlns:a="http://schemas.openxmlformats.org/drawingml/2006/main">
            <a:off x="640080" y="201168"/>
            <a:ext cx="100584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附錄｜pptxgenjs vs OfficeCLI 實測比較</a:t>
            </a:r>
          </a:p>
        </p:txBody>
      </p:sp>
      <p:graphicFrame>
        <p:nvGraphicFramePr>
          <p:cNvPr id="100261" name="Table 1"/>
          <p:cNvGraphicFramePr/>
          <p:nvPr/>
        </p:nvGraphicFramePr>
        <p:xfrm>
          <a:off xmlns:a="http://schemas.openxmlformats.org/drawingml/2006/main" x="640080" y="1188720"/>
          <a:ext xmlns:a="http://schemas.openxmlformats.org/drawingml/2006/main" cx="10881360" cy="35661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77440"/>
                <a:gridCol w="4251960"/>
                <a:gridCol w="425196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比較項目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pptxgenjs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OfficeCLI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操作方式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寫一支JS腳本，一次描述整份簡報結構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AI agent逐一下add/set/batch指令，一個文字框一條指令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產出流程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寫腳本→跑→轉圖QA→改腳本→重跑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建檔→組JSON指令→batch執行→轉圖QA→改JSON→重跑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檔案大小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458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183 KB（不到一半）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圖示處理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內建icon轉PNG完整流程，可inline base64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需另外產生PNG檔，picture元素插入外部圖檔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API粒度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高階：一個指令同時處理位置/字體/顏色/項目符號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貼近OOXML規格，連字距等細節都可單獨控制，彈性更大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1B2A4A"/>
                          </a:solidFill>
                          <a:latin typeface="Microsoft JhengHei"/>
                          <a:ea typeface="Microsoft JhengHei"/>
                        </a:rPr>
                        <a:t>這次踩到的坑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icon顏色缺#前綴，全部渲染成黑色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rgbClr val="27324A"/>
                          </a:solidFill>
                          <a:latin typeface="Microsoft JhengHei"/>
                          <a:ea typeface="Microsoft JhengHei"/>
                        </a:rPr>
                        <a:t>\v與\n用途搞混，項目符號清單塌縮成一條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0262" name="TextBox 3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附錄：pptxgenjs vs OfficeCLI 實測比較</a:t>
            </a:r>
          </a:p>
        </p:txBody>
      </p:sp>
      <p:sp>
        <p:nvSpPr>
          <p:cNvPr id="100263" name="TextBox 4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1B33"/>
        </a:solidFill>
      </p:bgPr>
    </p:bg>
    <p:spTree>
      <p:nvGrpSpPr>
        <p:cNvPr id="1" name=""/>
        <p:cNvGrpSpPr/>
        <p:nvPr/>
      </p:nvGrpSpPr>
      <p:grpSpPr/>
      <p:sp>
        <p:nvSpPr>
          <p:cNvPr id="100264" name="TextBox 1"/>
          <p:cNvSpPr/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5" name="TextBox 2"/>
          <p:cNvSpPr txBox="1"/>
          <p:nvPr/>
        </p:nvSpPr>
        <p:spPr>
          <a:xfrm xmlns:a="http://schemas.openxmlformats.org/drawingml/2006/main">
            <a:off x="868680" y="640080"/>
            <a:ext cx="100584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600" b="1" i="0">
                <a:solidFill>
                  <a:srgbClr val="FFFFFF"/>
                </a:solidFill>
                <a:latin typeface="Microsoft JhengHei"/>
                <a:ea typeface="Microsoft JhengHei"/>
              </a:rPr>
              <a:t>附錄｜整體評價</a:t>
            </a:r>
          </a:p>
        </p:txBody>
      </p:sp>
      <p:sp>
        <p:nvSpPr>
          <p:cNvPr id="100266" name="TextBox 3"/>
          <p:cNvSpPr/>
          <p:nvPr/>
        </p:nvSpPr>
        <p:spPr>
          <a:xfrm xmlns:a="http://schemas.openxmlformats.org/drawingml/2006/main">
            <a:off x="868680" y="1554480"/>
            <a:ext cx="1024128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E52"/>
          </a:solidFill>
          <a:ln xmlns:a="http://schemas.openxmlformats.org/drawingml/2006/main">
            <a:solidFill>
              <a:srgbClr val="3142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7" name="TextBox 4"/>
          <p:cNvSpPr/>
          <p:nvPr/>
        </p:nvSpPr>
        <p:spPr>
          <a:xfrm xmlns:a="http://schemas.openxmlformats.org/drawingml/2006/main">
            <a:off x="1234440" y="192024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6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2791890f245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463040" y="21488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00269" name="TextBox 5"/>
          <p:cNvSpPr txBox="1"/>
          <p:nvPr/>
        </p:nvSpPr>
        <p:spPr>
          <a:xfrm xmlns:a="http://schemas.openxmlformats.org/drawingml/2006/main">
            <a:off x="2286000" y="1965960"/>
            <a:ext cx="84124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定位不同，不是替代關係</a:t>
            </a:r>
          </a:p>
        </p:txBody>
      </p:sp>
      <p:sp>
        <p:nvSpPr>
          <p:cNvPr id="100270" name="TextBox 6"/>
          <p:cNvSpPr txBox="1"/>
          <p:nvPr/>
        </p:nvSpPr>
        <p:spPr>
          <a:xfrm xmlns:a="http://schemas.openxmlformats.org/drawingml/2006/main">
            <a:off x="2286000" y="2606040"/>
            <a:ext cx="8412480" cy="292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OfficeCLI的指令粒度更細、跟OOXML規格對應更直接，適合AI agent做「讀取既有文件、局部修改」這種精準操作——這正是它主打的定位，直接讀寫Word/Excel/PowerPoint，不是取代pptxgenjs這類「從零產生」工具。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也因此，產出同樣內容需要的指令量遠多於pptxgenjs（261條 vs 一支約500行的腳本），對「從零生成一份全新簡報」這個情境，pptxgenjs的高階API寫起來確實更省事。</a:t>
            </a:r>
          </a:p>
          <a:p xmlns:a="http://schemas.openxmlformats.org/drawingml/2006/main">
            <a:pPr marL="457200" indent="-457200" algn="l">
              <a:buChar char="•"/>
            </a:pPr>
            <a:r>
              <a:rPr lang="en-US" sz="1300" b="0" i="0">
                <a:solidFill>
                  <a:srgbClr val="CADCFC"/>
                </a:solidFill>
                <a:latin typeface="Microsoft JhengHei"/>
                <a:ea typeface="Microsoft JhengHei"/>
              </a:rPr>
              <a:t>兩份輸出視覺效果幾乎一致，OfficeCLI版本檔案更小是意外的加分。</a:t>
            </a:r>
          </a:p>
        </p:txBody>
      </p:sp>
      <p:sp>
        <p:nvSpPr>
          <p:cNvPr id="100271" name="TextBox 7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附錄：整體評價</a:t>
            </a:r>
          </a:p>
        </p:txBody>
      </p:sp>
      <p:sp>
        <p:nvSpPr>
          <p:cNvPr id="100272" name="TextBox 8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100273" name="TextBox 1"/>
          <p:cNvSpPr/>
          <p:nvPr/>
        </p:nvSpPr>
        <p:spPr>
          <a:xfrm xmlns:a="http://schemas.openxmlformats.org/drawingml/2006/main">
            <a:off x="0" y="0"/>
            <a:ext cx="121615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8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4" name="TextBox 2"/>
          <p:cNvSpPr txBox="1"/>
          <p:nvPr/>
        </p:nvSpPr>
        <p:spPr>
          <a:xfrm xmlns:a="http://schemas.openxmlformats.org/drawingml/2006/main">
            <a:off x="640080" y="201168"/>
            <a:ext cx="105156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2200" b="1" i="0">
                <a:solidFill>
                  <a:srgbClr val="FFFFFF"/>
                </a:solidFill>
                <a:latin typeface="Microsoft JhengHei"/>
                <a:ea typeface="Microsoft JhengHei"/>
              </a:rPr>
              <a:t>附錄｜給AI agent用的使用情境分析比較</a:t>
            </a:r>
          </a:p>
        </p:txBody>
      </p:sp>
      <p:sp>
        <p:nvSpPr>
          <p:cNvPr id="100275" name="TextBox 3"/>
          <p:cNvSpPr/>
          <p:nvPr/>
        </p:nvSpPr>
        <p:spPr>
          <a:xfrm xmlns:a="http://schemas.openxmlformats.org/drawingml/2006/main">
            <a:off x="640080" y="128930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7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995cd29c4438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1399032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77" name="TextBox 4"/>
          <p:cNvSpPr txBox="1"/>
          <p:nvPr/>
        </p:nvSpPr>
        <p:spPr>
          <a:xfrm xmlns:a="http://schemas.openxmlformats.org/drawingml/2006/main">
            <a:off x="1234440" y="1216152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情境一：從零產生一份全新簡報／文件</a:t>
            </a:r>
          </a:p>
        </p:txBody>
      </p:sp>
      <p:sp>
        <p:nvSpPr>
          <p:cNvPr id="100278" name="TextBox 5"/>
          <p:cNvSpPr txBox="1"/>
          <p:nvPr/>
        </p:nvSpPr>
        <p:spPr>
          <a:xfrm xmlns:a="http://schemas.openxmlformats.org/drawingml/2006/main">
            <a:off x="1234440" y="1563624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pptxgenjs —— 高階API一次描述完整版面，內建icon轉PNG與chart套件，單支腳本就能跑完，最省事</a:t>
            </a:r>
          </a:p>
        </p:txBody>
      </p:sp>
      <p:sp>
        <p:nvSpPr>
          <p:cNvPr id="100279" name="TextBox 6"/>
          <p:cNvSpPr/>
          <p:nvPr/>
        </p:nvSpPr>
        <p:spPr>
          <a:xfrm xmlns:a="http://schemas.openxmlformats.org/drawingml/2006/main">
            <a:off x="640080" y="21305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8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d95f5d8be42e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224028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81" name="TextBox 7"/>
          <p:cNvSpPr txBox="1"/>
          <p:nvPr/>
        </p:nvSpPr>
        <p:spPr>
          <a:xfrm xmlns:a="http://schemas.openxmlformats.org/drawingml/2006/main">
            <a:off x="1234440" y="2057400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情境二：修改既有正式文件的局部內容（公司範本、已上線報表、法遵文件）</a:t>
            </a:r>
          </a:p>
        </p:txBody>
      </p:sp>
      <p:sp>
        <p:nvSpPr>
          <p:cNvPr id="100282" name="TextBox 8"/>
          <p:cNvSpPr txBox="1"/>
          <p:nvPr/>
        </p:nvSpPr>
        <p:spPr>
          <a:xfrm xmlns:a="http://schemas.openxmlformats.org/drawingml/2006/main">
            <a:off x="1234440" y="2404872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OfficeCLI —— 用add/set精準改動指定節點，其餘內容與原始格式完全保留，不用整份重新生成冒風險</a:t>
            </a:r>
          </a:p>
        </p:txBody>
      </p:sp>
      <p:sp>
        <p:nvSpPr>
          <p:cNvPr id="100283" name="TextBox 9"/>
          <p:cNvSpPr/>
          <p:nvPr/>
        </p:nvSpPr>
        <p:spPr>
          <a:xfrm xmlns:a="http://schemas.openxmlformats.org/drawingml/2006/main">
            <a:off x="640080" y="29718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8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2ab3978e241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3081528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85" name="TextBox 10"/>
          <p:cNvSpPr txBox="1"/>
          <p:nvPr/>
        </p:nvSpPr>
        <p:spPr>
          <a:xfrm xmlns:a="http://schemas.openxmlformats.org/drawingml/2006/main">
            <a:off x="1234440" y="2898648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情境三：需要同時操作 docx／xlsx／pptx 三種格式</a:t>
            </a:r>
          </a:p>
        </p:txBody>
      </p:sp>
      <p:sp>
        <p:nvSpPr>
          <p:cNvPr id="100286" name="TextBox 11"/>
          <p:cNvSpPr txBox="1"/>
          <p:nvPr/>
        </p:nvSpPr>
        <p:spPr>
          <a:xfrm xmlns:a="http://schemas.openxmlformats.org/drawingml/2006/main">
            <a:off x="1234440" y="3246120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OfficeCLI —— 單一CLI語法橫跨三格式；pptxgenjs僅支援pptx，跨格式要換工具</a:t>
            </a:r>
          </a:p>
        </p:txBody>
      </p:sp>
      <p:sp>
        <p:nvSpPr>
          <p:cNvPr id="100287" name="TextBox 12"/>
          <p:cNvSpPr/>
          <p:nvPr/>
        </p:nvSpPr>
        <p:spPr>
          <a:xfrm xmlns:a="http://schemas.openxmlformats.org/drawingml/2006/main">
            <a:off x="640080" y="38130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8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87bb85abf4d9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392277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89" name="TextBox 13"/>
          <p:cNvSpPr txBox="1"/>
          <p:nvPr/>
        </p:nvSpPr>
        <p:spPr>
          <a:xfrm xmlns:a="http://schemas.openxmlformats.org/drawingml/2006/main">
            <a:off x="1234440" y="3739896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情境四：AI agent在多輪對話中持續漸進式微調同一份文件</a:t>
            </a:r>
          </a:p>
        </p:txBody>
      </p:sp>
      <p:sp>
        <p:nvSpPr>
          <p:cNvPr id="100290" name="TextBox 14"/>
          <p:cNvSpPr txBox="1"/>
          <p:nvPr/>
        </p:nvSpPr>
        <p:spPr>
          <a:xfrm xmlns:a="http://schemas.openxmlformats.org/drawingml/2006/main">
            <a:off x="1234440" y="4087368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OfficeCLI —— resident process可開著檔案持續小改（open→多次set→save/close），不必每次重新產生整份</a:t>
            </a:r>
          </a:p>
        </p:txBody>
      </p:sp>
      <p:sp>
        <p:nvSpPr>
          <p:cNvPr id="100291" name="TextBox 15"/>
          <p:cNvSpPr/>
          <p:nvPr/>
        </p:nvSpPr>
        <p:spPr>
          <a:xfrm xmlns:a="http://schemas.openxmlformats.org/drawingml/2006/main">
            <a:off x="640080" y="46542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9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9f778dab24e7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4764024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93" name="TextBox 16"/>
          <p:cNvSpPr txBox="1"/>
          <p:nvPr/>
        </p:nvSpPr>
        <p:spPr>
          <a:xfrm xmlns:a="http://schemas.openxmlformats.org/drawingml/2006/main">
            <a:off x="1234440" y="4581144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情境五：需要高度客製化視覺設計一次到位（複雜icon／圖表／排版）</a:t>
            </a:r>
          </a:p>
        </p:txBody>
      </p:sp>
      <p:sp>
        <p:nvSpPr>
          <p:cNvPr id="100294" name="TextBox 17"/>
          <p:cNvSpPr txBox="1"/>
          <p:nvPr/>
        </p:nvSpPr>
        <p:spPr>
          <a:xfrm xmlns:a="http://schemas.openxmlformats.org/drawingml/2006/main">
            <a:off x="1234440" y="4928616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pptxgenjs —— 設計自由度與現成視覺元件庫更完整，適合單次產出精美成品</a:t>
            </a:r>
          </a:p>
        </p:txBody>
      </p:sp>
      <p:sp>
        <p:nvSpPr>
          <p:cNvPr id="100295" name="TextBox 18"/>
          <p:cNvSpPr/>
          <p:nvPr/>
        </p:nvSpPr>
        <p:spPr>
          <a:xfrm xmlns:a="http://schemas.openxmlformats.org/drawingml/2006/main">
            <a:off x="640080" y="549554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1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29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ba28d8a5f44b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49808" y="5605272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100297" name="TextBox 19"/>
          <p:cNvSpPr txBox="1"/>
          <p:nvPr/>
        </p:nvSpPr>
        <p:spPr>
          <a:xfrm xmlns:a="http://schemas.openxmlformats.org/drawingml/2006/main">
            <a:off x="1234440" y="5422392"/>
            <a:ext cx="1024128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200" b="1" i="0">
                <a:solidFill>
                  <a:srgbClr val="27324A"/>
                </a:solidFill>
                <a:latin typeface="Microsoft JhengHei"/>
                <a:ea typeface="Microsoft JhengHei"/>
              </a:rPr>
              <a:t>情境六：希望不依賴Node.js生態系，單一執行檔落地即可跑</a:t>
            </a:r>
          </a:p>
        </p:txBody>
      </p:sp>
      <p:sp>
        <p:nvSpPr>
          <p:cNvPr id="100298" name="TextBox 20"/>
          <p:cNvSpPr txBox="1"/>
          <p:nvPr/>
        </p:nvSpPr>
        <p:spPr>
          <a:xfrm xmlns:a="http://schemas.openxmlformats.org/drawingml/2006/main">
            <a:off x="1234440" y="5769864"/>
            <a:ext cx="1024128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50" b="0" i="0">
                <a:solidFill>
                  <a:srgbClr val="6B7A99"/>
                </a:solidFill>
                <a:latin typeface="Microsoft JhengHei"/>
                <a:ea typeface="Microsoft JhengHei"/>
              </a:rPr>
              <a:t>選 OfficeCLI —— 單一binary，無需npm安裝套件；pptxgenjs需要Node環境與相依套件</a:t>
            </a:r>
          </a:p>
        </p:txBody>
      </p:sp>
      <p:sp>
        <p:nvSpPr>
          <p:cNvPr id="100299" name="TextBox 21"/>
          <p:cNvSpPr txBox="1"/>
          <p:nvPr/>
        </p:nvSpPr>
        <p:spPr>
          <a:xfrm xmlns:a="http://schemas.openxmlformats.org/drawingml/2006/main">
            <a:off x="548640" y="640080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附錄：AI使用情境分析比較</a:t>
            </a:r>
          </a:p>
        </p:txBody>
      </p:sp>
      <p:sp>
        <p:nvSpPr>
          <p:cNvPr id="100300" name="TextBox 22"/>
          <p:cNvSpPr txBox="1"/>
          <p:nvPr/>
        </p:nvSpPr>
        <p:spPr>
          <a:xfrm xmlns:a="http://schemas.openxmlformats.org/drawingml/2006/main">
            <a:off x="10149840" y="6400800"/>
            <a:ext cx="146304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/>
            <a:r>
              <a:rPr lang="en-US" sz="1000" b="0" i="0">
                <a:solidFill>
                  <a:srgbClr val="6B7A99"/>
                </a:solidFill>
                <a:latin typeface="Microsoft JhengHei"/>
                <a:ea typeface="Microsoft JhengHei"/>
              </a:rPr>
              <a:t>2026-08-13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2026-08-13T07:56:56.0000000Z</dcterms:created>
  <lastModifiedBy>OfficeCLI</lastModifiedBy>
  <dcterms:modified xsi:type="dcterms:W3CDTF">2026-08-13T07:56:58.7801407Z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2026-08-13T08:23:43Z</vt:lpwstr>
  </op:property>
</op:Properties>
</file>